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14500" cy="3048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2455" y="381000"/>
            <a:ext cx="17487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활용 가이드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96250" y="381000"/>
            <a:ext cx="571500" cy="3048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90535" y="381000"/>
            <a:ext cx="582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714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실전 활용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09600" y="2571750"/>
            <a:ext cx="6800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AI 에이전트 설계 가이드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9600" y="3048000"/>
            <a:ext cx="728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개발팀, 영업팀, 회사 전체를 위한 맞춤형 AI 자동화 전략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0960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9600" y="45720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전사 임직원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66700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시간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67000" y="45720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45-50분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86250" y="438150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86250" y="45720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45장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내용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3497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왜 팀별 활용이 중요한가?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9600" y="18288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1828800"/>
            <a:ext cx="3497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개발팀 활용법 &amp; PR 리뷰 에이전트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09600" y="23241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324100"/>
            <a:ext cx="3497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영업팀 활용법 &amp; 경쟁사 분석 에이전트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8194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819400"/>
            <a:ext cx="3497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디자인팀 활용법 &amp; Figma 연동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67250" y="13335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750" y="1333500"/>
            <a:ext cx="3497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회사 전체 활용법 &amp; 리서치 에이전트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667250" y="18288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7750" y="1828800"/>
            <a:ext cx="3497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에이전트 설계 방법론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667250" y="2324100"/>
            <a:ext cx="3810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57750" y="2324100"/>
            <a:ext cx="3497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도입 가이드 &amp; 마무리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09600" y="3429000"/>
            <a:ext cx="7924800" cy="1143000"/>
          </a:xfrm>
          <a:prstGeom prst="roundRect">
            <a:avLst>
              <a:gd name="adj" fmla="val 10000"/>
            </a:avLst>
          </a:prstGeom>
          <a:solidFill>
            <a:srgbClr val="667EE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3619500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0100" y="3905250"/>
            <a:ext cx="76946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Code는 개발팀만의 도구가 아닙니다. 영업, 경영지원, HR 등 모든 팀이 각자의 반복 업무를 자동화할 수 있습니다.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Situation - 현재 상황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코딩 도구, 개발팀만 쓰고 있나요?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2476500" cy="1333500"/>
          </a:xfrm>
          <a:prstGeom prst="roundRect">
            <a:avLst>
              <a:gd name="adj" fmla="val 857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66687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0100" y="2238375"/>
            <a:ext cx="2137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개발자가 AI 코딩 도구 사용 (2025)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6600" y="1428750"/>
            <a:ext cx="24765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67100" y="166687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67100" y="2238375"/>
            <a:ext cx="2137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영업팀의 AI 도구 활용률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1428750"/>
            <a:ext cx="24765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34100" y="166687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34100" y="2238375"/>
            <a:ext cx="2137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경영지원팀의 AI 활용률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" y="3048000"/>
            <a:ext cx="7924800" cy="76200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3048000"/>
            <a:ext cx="0" cy="7620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" y="3238500"/>
            <a:ext cx="7694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진짜 가치는 "전사적 활용"에서 나온다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95750"/>
            <a:ext cx="7924800" cy="57150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4095750"/>
            <a:ext cx="76946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우리 회사는 Claude Code를 어디까지 쓰고 있나요?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Complication - 문제점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업무 특성이 다르다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1714500" cy="428625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81125"/>
            <a:ext cx="13601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24100" y="1381125"/>
            <a:ext cx="2667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14600" y="1381125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업무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91100" y="1381125"/>
            <a:ext cx="35433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81600" y="1381125"/>
            <a:ext cx="32255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1809750"/>
            <a:ext cx="1714500" cy="523875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1809750"/>
            <a:ext cx="136017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324100" y="1809750"/>
            <a:ext cx="26670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324100" y="2328863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809750"/>
            <a:ext cx="23317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작성 / 리뷰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91100" y="1809750"/>
            <a:ext cx="3543300" cy="52387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91100" y="2328863"/>
            <a:ext cx="3543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600" y="1809750"/>
            <a:ext cx="322554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리뷰, 버그 분석, 문서화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" y="2333625"/>
            <a:ext cx="1714500" cy="523875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0100" y="2333625"/>
            <a:ext cx="136017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324100" y="2333625"/>
            <a:ext cx="2667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324100" y="2852738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333625"/>
            <a:ext cx="23317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대응 / 제안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91100" y="2333625"/>
            <a:ext cx="3543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991100" y="2852738"/>
            <a:ext cx="35433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1600" y="2333625"/>
            <a:ext cx="322554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조사, 제안서, 고객사 분석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600" y="2857500"/>
            <a:ext cx="1714500" cy="523875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0100" y="2857500"/>
            <a:ext cx="136017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2324100" y="2857500"/>
            <a:ext cx="2667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14600" y="2857500"/>
            <a:ext cx="23317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 / 리서치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91100" y="2857500"/>
            <a:ext cx="35433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81600" y="2857500"/>
            <a:ext cx="322554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지원사업 검토, 보고서, 회의록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9600" y="3810000"/>
            <a:ext cx="7924800" cy="85725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00100" y="4000500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0100" y="4267200"/>
            <a:ext cx="7694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팀에 맞는 AI 활용법이 필요하다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- 핵심 질문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팀별로 최적화할 것인가?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28750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28750"/>
            <a:ext cx="34975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개발팀: PR 리뷰를 자동화할 수 있을까?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9600" y="223837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238375"/>
            <a:ext cx="34975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영업팀: 경쟁사 동향을 실시간 추적?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09600" y="3048000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3048000"/>
            <a:ext cx="34975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경영지원: 지원사업 공고를 자동 요약?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762500" y="1428750"/>
            <a:ext cx="3771900" cy="22860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8250" y="1714500"/>
            <a:ext cx="32644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48250" y="2047875"/>
            <a:ext cx="32644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+ MCP + Agent 조합으로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48250" y="2762250"/>
            <a:ext cx="326440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맞춤형 AI 자동화가 가능합니다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4095750"/>
            <a:ext cx="80832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$850,000 절감 사례 (Anthropic 기업 고객 평균)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 - 해결책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맞춤형 에이전트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428625"/>
          </a:xfrm>
          <a:prstGeom prst="roundRect">
            <a:avLst>
              <a:gd name="adj" fmla="val 2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1333500"/>
            <a:ext cx="80832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762125"/>
            <a:ext cx="2571750" cy="19050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1905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Agent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0100" y="2333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 자동화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261937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분석 &amp; 문서화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9051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&amp; CI/CD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319087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 온보딩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86125" y="1762125"/>
            <a:ext cx="2571750" cy="19050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6625" y="1905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 Agent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6625" y="2333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6625" y="261937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리서치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6625" y="29051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비교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6625" y="319087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 초안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62650" y="1762125"/>
            <a:ext cx="2571750" cy="19050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53150" y="1905000"/>
            <a:ext cx="22345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전체 Agent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3150" y="23336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지원사업 모니터링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53150" y="261937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요약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53150" y="290512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회의록 정리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53150" y="3190875"/>
            <a:ext cx="2234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자동화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4000500"/>
            <a:ext cx="80832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11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팀의 반복 업무를 Skills + MCP로 자동화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450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095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활용법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952750"/>
            <a:ext cx="5829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리뷰부터 CI/CD 자동화까지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처리 시간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00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051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956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기간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8956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1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분석 시간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91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67%↓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개발팀의 Pain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업무들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650" y="1381125"/>
            <a:ext cx="0" cy="52387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38112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리뷰에 하루 2-3시간 소요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000250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8650" y="2000250"/>
            <a:ext cx="0" cy="52387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2000250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 온보딩에 시니어 시간 낭비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619375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619375"/>
            <a:ext cx="0" cy="5238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61937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분석을 위한 로그 파싱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09600" y="3238500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3238500"/>
            <a:ext cx="0" cy="5238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" y="3238500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코드베이스 문서화 미비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762500" y="1381125"/>
            <a:ext cx="3771900" cy="2381250"/>
          </a:xfrm>
          <a:prstGeom prst="roundRect">
            <a:avLst>
              <a:gd name="adj" fmla="val 48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48250" y="1666875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48250" y="2000250"/>
            <a:ext cx="326440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속도 저하 기술 부채 누적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48250" y="2952750"/>
            <a:ext cx="32644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개발 시간보다 부수 작업에 더 많은 시간 소요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30352" y="4095750"/>
            <a:ext cx="80832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생산성의 가장 큰 적은 "반복 작업"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1: PR 리뷰 자동화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 빠른 PR 처리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66700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 리뷰 요청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14500"/>
            <a:ext cx="446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PR 리뷰해줘.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보안 이슈와 성능 문제 중심으로"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" y="23812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실행: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0100" y="2619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변경된 파일 분석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8575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코드 스타일 검사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3095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보안 취약점 탐지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3337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성능 이슈 식별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5718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 우선순위별 피드백 제공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619750" y="1333500"/>
            <a:ext cx="2914650" cy="1238250"/>
          </a:xfrm>
          <a:prstGeom prst="roundRect">
            <a:avLst>
              <a:gd name="adj" fmla="val 923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예시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10250" y="1809750"/>
            <a:ext cx="2584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Critical: SQL Injection 위험</a:t>
            </a:r>
            <a:endParaRPr lang="en-US" sz="975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 Warning: N+1 쿼리 발견</a:t>
            </a:r>
            <a:endParaRPr lang="en-US" sz="975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Suggestion: 변수명 개선 권장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619750" y="2762250"/>
            <a:ext cx="29146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0" y="295275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Pilot 프로그램 결과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10250" y="3238500"/>
            <a:ext cx="2584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처리 시간 30% 단축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리뷰 품질 향상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협업 효율 증가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428625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Enterprise Customer Data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2: 신입 온보딩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주 → 1-2일로 단축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신입 개발자의 첫날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프로젝트 아키텍처 설명해줘"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478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"인증 로직은 어디서 처리해?"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333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"테스트 실행 방법 알려줘"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7622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" y="3000375"/>
            <a:ext cx="44691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전체 코드베이스 분석</a:t>
            </a:r>
            <a:endParaRPr lang="en-US" sz="975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아키텍처 다이어그램 생성</a:t>
            </a:r>
            <a:endParaRPr lang="en-US" sz="975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주요 패턴 및 컨벤션 설명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619750" y="1333500"/>
            <a:ext cx="2914650" cy="857250"/>
          </a:xfrm>
          <a:prstGeom prst="roundRect">
            <a:avLst>
              <a:gd name="adj" fmla="val 133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10250" y="1762125"/>
            <a:ext cx="25843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코드베이스 파악 2-3주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19750" y="2286000"/>
            <a:ext cx="2914650" cy="857250"/>
          </a:xfrm>
          <a:prstGeom prst="roundRect">
            <a:avLst>
              <a:gd name="adj" fmla="val 13333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0" y="24765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10250" y="2714625"/>
            <a:ext cx="25843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코드베이스 파악 1-2일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19750" y="3238500"/>
            <a:ext cx="29146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0" y="3381375"/>
            <a:ext cx="25843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시니어 개발자 시간 절약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000500"/>
            <a:ext cx="80832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신입이 Claude Code에게 질문 → 시니어는 리뷰에 집중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 에이전트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구조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476250"/>
          </a:xfrm>
          <a:prstGeom prst="roundRect">
            <a:avLst>
              <a:gd name="adj" fmla="val 24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1333500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Review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09750"/>
            <a:ext cx="7924800" cy="38100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2185988"/>
            <a:ext cx="792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1809750"/>
            <a:ext cx="145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Trigger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28850" y="1809750"/>
            <a:ext cx="62373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 리뷰해줘", "코드 검토", "/review"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2190750"/>
            <a:ext cx="7924800" cy="952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600" y="3138488"/>
            <a:ext cx="792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2860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228850" y="23336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14563" y="2333625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diff-analysis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52850" y="23336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38563" y="2333625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security-check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28850" y="27146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14563" y="2714625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style-check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52850" y="2714625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38563" y="2714625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feedback-format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600" y="3143250"/>
            <a:ext cx="7924800" cy="666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0100" y="32861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Servers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228850" y="3333750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14563" y="3333750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MCP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52850" y="3333750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38563" y="3333750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SonarQube MCP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9600" y="400050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667EE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0100" y="4143375"/>
            <a:ext cx="7694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Skills로 검토 로직 정의 + MCP로 GitHub/CI 도구 연결 = 완전 자동화된 PR 리뷰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 에이전트 - SKILL.md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정의 파일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285875"/>
            <a:ext cx="7924800" cy="3238500"/>
          </a:xfrm>
          <a:prstGeom prst="roundRect">
            <a:avLst>
              <a:gd name="adj" fmla="val 3529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287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.claude/agents/pr-reviewer.md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666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8573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pr-reviewer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047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팀 표준 기반 PR 리뷰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2383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allowed-tools: Read, Grep, Glob, Bash(git:*)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428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271462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 리뷰 프로세스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29527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git diff로 변경 파일 목록 확인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1432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각 파일별 변경 내용 분석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3337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우선순위별 피드백 분류: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90600" y="35242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🔴 Critical: 머지 전 필수 수정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90600" y="37147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🟡 Warning: 수정 권장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90600" y="39052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🟢 Suggestion: 개선 고려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00100" y="41433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CLAUDE.md 규칙 기반 검토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 활용 - ROI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보는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905000" cy="428625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1333500"/>
            <a:ext cx="1905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5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19600" y="1333500"/>
            <a:ext cx="1905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10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600" y="1333500"/>
            <a:ext cx="2209800" cy="428625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15100" y="1333500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처리 시간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14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14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5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4시간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19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1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0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2.8시간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4600" y="1762125"/>
            <a:ext cx="2209800" cy="4762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24600" y="2233612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5100" y="176212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기간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14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514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5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19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419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0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2-3일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24600" y="2238375"/>
            <a:ext cx="2209800" cy="4762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24600" y="2709863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5100" y="223837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9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9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분석 시간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14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514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05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19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419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0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4600" y="2714625"/>
            <a:ext cx="2209800" cy="4762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24600" y="3186113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5100" y="271462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67%↓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9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00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설계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514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705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419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610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24600" y="3190875"/>
            <a:ext cx="2209800" cy="476250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515100" y="319087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45%↓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30352" y="4000500"/>
            <a:ext cx="80832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Anthropic 고객 사례, Salesforce 엔지니어링 팀, Altana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450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095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 활용법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952750"/>
            <a:ext cx="5829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분석부터 고객 맞춤 제안까지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조사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00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051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956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리서치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8956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81%↓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1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대응 시간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91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50%↑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영업팀의 Pain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업무들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650" y="1381125"/>
            <a:ext cx="0" cy="52387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38112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동향 파악에 매일 1-2시간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000250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8650" y="2000250"/>
            <a:ext cx="0" cy="52387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2000250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정보 수집에 제안서당 3-4시간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619375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619375"/>
            <a:ext cx="0" cy="5238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61937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회의록 정리 및 후속 조치 정리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09600" y="3238500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3238500"/>
            <a:ext cx="0" cy="5238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" y="3238500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제안서/발표자료 작성 시간 과다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762500" y="1381125"/>
            <a:ext cx="3771900" cy="2381250"/>
          </a:xfrm>
          <a:prstGeom prst="roundRect">
            <a:avLst>
              <a:gd name="adj" fmla="val 48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48250" y="1666875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48250" y="2000250"/>
            <a:ext cx="326440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고객 대응 시간 부족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48250" y="2952750"/>
            <a:ext cx="32644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리서치에 시간을 뺏겨 정작 고객과의 대화에 집중하지 못함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30352" y="4095750"/>
            <a:ext cx="80832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자동화 = 고객 대응 시간 확보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1: 경쟁사 뉴스 모니터링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경쟁사 동향 파악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매일 아침 경쟁사 뉴스 요약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"지난 24시간 A사, B사, C사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관련 뉴스 요약해줘.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143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우리 제품 관련 내용 중심으로"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524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+ Web Search: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" y="27622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경쟁사별 뉴스 검색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3000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핵심 내용 추출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2385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우리 비즈니스 영향도 분석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476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Slack 채널에 요약 공유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619750" y="1333500"/>
            <a:ext cx="2914650" cy="952500"/>
          </a:xfrm>
          <a:prstGeom prst="roundRect">
            <a:avLst>
              <a:gd name="adj" fmla="val 12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10250" y="1809750"/>
            <a:ext cx="25843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2시간 직접 검색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19750" y="2428875"/>
            <a:ext cx="29146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0" y="2619375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10250" y="2905125"/>
            <a:ext cx="25843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15분 리포트 확인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0352" y="4095750"/>
            <a:ext cx="80832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설정 후 매일 아침 Slack에 경쟁사 동향 요약 수신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2: 고객사 리서치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전 고객사 심층 분석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미팅 전 고객사 조사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"다음 주 미팅 예정인 X사 분석해줘.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최근 투자 동향, 기술 스택,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143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주요 과제 중심으로"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524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실행: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" y="27622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공개 IR 자료 분석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3000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기술 블로그/GitHub 분석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2385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채용 공고로 기술 스택 파악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476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맞춤 제안 포인트 도출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619750" y="1333500"/>
            <a:ext cx="29146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예시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10250" y="185737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X사 기업 분석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810250" y="209550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B 투자 유치 (100억)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10250" y="233362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스택: React, Node.js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10250" y="257175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과제: 레거시 마이그레이션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10250" y="280987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채용: SRE 3명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10250" y="314325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포인트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810250" y="3381375"/>
            <a:ext cx="25843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마이그레이션 자동화 솔루션 중심 제안 권장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" y="4095750"/>
            <a:ext cx="80832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4시간 리서치 → 45분으로 단축 (81% 절감)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분석 에이전트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구조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476250"/>
          </a:xfrm>
          <a:prstGeom prst="roundRect">
            <a:avLst>
              <a:gd name="adj" fmla="val 24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1333500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Competitor Analysis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09750"/>
            <a:ext cx="7924800" cy="3810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2185988"/>
            <a:ext cx="792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1809750"/>
            <a:ext cx="145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Trigger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28850" y="1809750"/>
            <a:ext cx="62373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"경쟁사 분석", "시장 조사", "/competitor"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2190750"/>
            <a:ext cx="7924800" cy="952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600" y="3138488"/>
            <a:ext cx="792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2860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228850" y="23336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15515" y="2333625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news-search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23336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44265" y="2333625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company-profile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28850" y="27146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15515" y="2714625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price-compare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27146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44265" y="2714625"/>
            <a:ext cx="136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report-format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600" y="3143250"/>
            <a:ext cx="7924800" cy="666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0100" y="32861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Servers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228850" y="3333750"/>
            <a:ext cx="123825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16468" y="3333750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2350" y="3333750"/>
            <a:ext cx="123825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49968" y="3333750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Drive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5850" y="33337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86325" y="333375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600" y="400050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0100" y="4143375"/>
            <a:ext cx="7694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Search + Google Drive + Slack = 자동 리서치 → 저장 → 팀 공유까지 원스톱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 활용 - ROI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보는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905000" cy="428625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1333500"/>
            <a:ext cx="1905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5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19600" y="1333500"/>
            <a:ext cx="1905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10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600" y="1333500"/>
            <a:ext cx="2209800" cy="428625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15100" y="1333500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조사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14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14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5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2시간/일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19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1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0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15분/일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4600" y="1762125"/>
            <a:ext cx="2209800" cy="47625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24600" y="2233612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5100" y="176212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리서치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14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514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5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4시간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19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419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0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24600" y="2238375"/>
            <a:ext cx="2209800" cy="47625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24600" y="2709863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5100" y="223837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81%↓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9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9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 작성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14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514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05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8시간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19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419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0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4600" y="2714625"/>
            <a:ext cx="2209800" cy="47625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24600" y="3186113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5100" y="271462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9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00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대응 시간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514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705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4시간/일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419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610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6시간/일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24600" y="3190875"/>
            <a:ext cx="2209800" cy="47625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515100" y="319087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50%↑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09600" y="3905250"/>
            <a:ext cx="7924800" cy="7620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24662" y="4143375"/>
            <a:ext cx="76946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시간 절감 → 고객 대응 시간 50% 증가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450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095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디자인팀 활용법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952750"/>
            <a:ext cx="5829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연동부터 디자인 시스템 자동화까지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디자인-코드 핸드오프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00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051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956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배리에이션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8956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1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QA 시간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91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76285" y="47625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디자인팀의 반복 업무들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자동화할 수 있는 영역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905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디자인-개발 핸드오프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스펙 문서 작성, 토큰 값 전달, 수정 사항 커뮤니케이션에 하루 2-3시간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29150" y="1333500"/>
            <a:ext cx="3905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9650" y="1476375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QA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19650" y="1762125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코드와 디자인 토큰 불일치, 컴포넌트 스펙 검증에 많은 시간 소요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428875"/>
            <a:ext cx="3905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571750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광고/배너 배리에이션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00100" y="2857500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디자인에 문구/이미지만 바꾸는 반복 작업, 건당 30분 소요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2428875"/>
            <a:ext cx="3905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2571750"/>
            <a:ext cx="3594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프로토타입-코드 전환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819650" y="2857500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프로토타입을 실제 코드로 구현하는 과정에서 디테일 손실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619500"/>
            <a:ext cx="7924800" cy="952500"/>
          </a:xfrm>
          <a:prstGeom prst="roundRect">
            <a:avLst>
              <a:gd name="adj" fmla="val 12000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3810000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00100" y="4095750"/>
            <a:ext cx="7694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디자인-개발 사이클 지연, 디자인 품질 저하, 크리에이티브 업무에 집중할 시간 부족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1: Figma MCP 연동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Design-to-Code 자동화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66700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Figma 디자인을 코드로 변환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Figma 프레임을 React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컴포넌트로 변환해줘.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143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디자인 시스템 토큰 사용해서"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524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+ Figma MCP: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" y="27622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Figma 파일 구조 분석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3000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디자인 토큰 자동 매핑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2385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컴포넌트 코드 생성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476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Storybook 문서 자동 생성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619750" y="1333500"/>
            <a:ext cx="2914650" cy="1238250"/>
          </a:xfrm>
          <a:prstGeom prst="roundRect">
            <a:avLst>
              <a:gd name="adj" fmla="val 9231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10250" y="1809750"/>
            <a:ext cx="2584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디자이너-개발자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왕복 커뮤니케이션 5회+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19750" y="2762250"/>
            <a:ext cx="29146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0" y="295275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10250" y="3238500"/>
            <a:ext cx="2584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스펙의 코드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생성 → 즉시 리뷰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28625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핸드오프 시간 80% 절감 + 디자인-코드 불일치 0%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2: 디자인 시스템 QA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불일치 자동 감지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66700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디자인 시스템 검증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"Figma 디자인 토큰과 코드의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CSS 변수 일치 여부 검사해줘"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333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실행: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0100" y="25717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Figma에서 디자인 토큰 추출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8098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코드베이스 CSS 변수 스캔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30480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불일치 항목 리스트업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286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수정 제안 or 자동 수정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7147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Figma "Check Designs" AI와 연동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619750" y="1333500"/>
            <a:ext cx="29146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QA 결과 예시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10250" y="185737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color-primary: #667eea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810250" y="207645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Code: #6366f1 (불일치)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10250" y="242887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spacing-md: 16px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810250" y="264795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Code: 14px (불일치)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10250" y="300037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border-radius: 12px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810250" y="321945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Code: 12px (일치)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10250" y="3619500"/>
            <a:ext cx="25843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불일치 → 자동 수정 제안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30352" y="428625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일관성 유지 + QA 시간 90% 절감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3: 광고 배리에이션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마케팅팀 실제 사례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광고 배리에이션 자동 생성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광고 템플릿으로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100개 배리에이션 만들어줘.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143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헤드라인/설명 조합: ads.csv"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524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+ Figma Plugin: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" y="27622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템플릿 프레임 식별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3000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CSV에서 텍스트 조합 로드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32385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100개 프레임 자동 생성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476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배치당 0.5초 (기존 30분)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619750" y="1333500"/>
            <a:ext cx="2914650" cy="952500"/>
          </a:xfrm>
          <a:prstGeom prst="roundRect">
            <a:avLst>
              <a:gd name="adj" fmla="val 12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0" y="147637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0250" y="1714500"/>
            <a:ext cx="25843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100개 × 30분 = 50시간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19750" y="2428875"/>
            <a:ext cx="29146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0" y="257175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10250" y="2809875"/>
            <a:ext cx="25843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100개 × 0.5초 = 50초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19750" y="3524250"/>
            <a:ext cx="2914650" cy="47625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10250" y="3648075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"몇 시간의 복붙이 0.5초로" - Anthropic Growth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30352" y="428625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마케팅/퍼포먼스팀 필수 도구 → A/B 테스트 속도 100배 향상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에이전트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MCP + Design System 자동화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285875"/>
            <a:ext cx="3810000" cy="3286125"/>
          </a:xfrm>
          <a:prstGeom prst="roundRect">
            <a:avLst>
              <a:gd name="adj" fmla="val 3478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28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┌────────────────────────────────┐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800100" y="1619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  Design Workflow Agent      │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809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├────────────────────────────────┤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000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Trigger: "디자인 코드로",      │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190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         "토큰 검증"           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381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├────────────────────────────────┤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2571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Skills:                        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2762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figma-to-code (변환)       │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2952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token-validate (검증)      │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143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batch-generate (배리에이션)│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00100" y="3333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└── storybook-doc (문서화)     │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00100" y="3524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├────────────────────────────────┤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00100" y="3714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C48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MCP Servers:                   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00100" y="3905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Figma Dev Mode MCP        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00100" y="40957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└── Browser MCP (검증)        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00100" y="428625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└────────────────────────────────┘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629150" y="1285875"/>
            <a:ext cx="39052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9650" y="1428750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MCP 설정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9650" y="1714500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.claude/.mcp.json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9650" y="1905000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"figma": {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9650" y="2095500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"url": "http://127.0.0.1:3845/sse"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9650" y="2286000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9650" y="2619375"/>
            <a:ext cx="35947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Desktop 앱 필요</a:t>
            </a:r>
            <a:endParaRPr lang="en-US" sz="825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Code, Cursor, Claude Desktop 지원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29150" y="3333750"/>
            <a:ext cx="3905250" cy="1238250"/>
          </a:xfrm>
          <a:prstGeom prst="roundRect">
            <a:avLst>
              <a:gd name="adj" fmla="val 9231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9650" y="3476625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디자인팀 도입 체크리스트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9650" y="3762375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Figma Desktop 설치 및 MCP 활성화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819650" y="3981450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디자인 토큰 정의 (variables)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4819650" y="4200525"/>
            <a:ext cx="3594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CLAUDE.md에 컴포넌트 규칙 명시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450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095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전체 활용법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952750"/>
            <a:ext cx="5829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지원사업 분석부터 문서 요약까지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지원사업 검토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00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051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956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요약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8956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1100" y="395287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절감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91100" y="4191000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$850K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1: 지원사업 모니터링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지원사업 알림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266700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정부 지원사업 자동 모니터링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"우리 회사가 신청 가능한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R&amp;D 지원사업 찾아서 요약해줘.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143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업종: IT 서비스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333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규모: 중소기업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524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매출: 50억 이하"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2905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실행: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0100" y="31432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지원사업 사이트 검색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381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자격 요건 매칭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6195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핵심 정보 추출 (마감일, 지원금)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00100" y="3857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 우선순위 정렬 보고서 생성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619750" y="1333500"/>
            <a:ext cx="2914650" cy="123825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10250" y="1809750"/>
            <a:ext cx="2584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5시간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사이트별 직접 검색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19750" y="2762250"/>
            <a:ext cx="29146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10250" y="295275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10250" y="3238500"/>
            <a:ext cx="258432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30분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보고서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4286250"/>
            <a:ext cx="8083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 시간 절감 + 놓치는 지원사업 0%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사례 2: 문서 요약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500K 컨텍스트의 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4762500" cy="1905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긴 문서 분석 및 요약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762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"이 100페이지 보고서 분석해줘.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9526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핵심 인사이트 5개와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143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우리 사업 관련 시사점 정리해줘"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524125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(Enterprise):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" y="2762250"/>
            <a:ext cx="44691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500K 토큰 = 수백 페이지 문서</a:t>
            </a:r>
            <a:endParaRPr lang="en-US" sz="975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전체 맥락 이해 후 요약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619750" y="1333500"/>
            <a:ext cx="29146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10250" y="152400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500K 컨텍스트 윈도우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10250" y="185737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 개 영업 트랜스크립트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810250" y="2095500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수십 개 100+ 페이지 문서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810250" y="2333625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규모 코드베이스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810250" y="2714625"/>
            <a:ext cx="25843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전체 문서 분석 가능 → 맥락 손실 없음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3429000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6195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Before: 100페이지 문서 요약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0100" y="38576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2시간 읽고 정리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7250" y="3429000"/>
            <a:ext cx="3867150" cy="76200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7750" y="3619500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After: Claude Code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57750" y="3857625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분석 완료 (92%↓)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" y="4381500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 플랜: 500K 컨텍스트 윈도우 제공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에이전트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리서치 에이전트 구조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47625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1333500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09750"/>
            <a:ext cx="7924800" cy="38100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2185988"/>
            <a:ext cx="792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1809750"/>
            <a:ext cx="145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Trigger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28850" y="1809750"/>
            <a:ext cx="62373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"조사해줘", "분석해줘", "요약해줘", "/research"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2190750"/>
            <a:ext cx="7924800" cy="952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600" y="3138488"/>
            <a:ext cx="7924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2860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228850" y="2333625"/>
            <a:ext cx="1238250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16468" y="2333625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web-research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2350" y="2333625"/>
            <a:ext cx="1238250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49968" y="2333625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doc-analysis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28850" y="2714625"/>
            <a:ext cx="1238250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16468" y="2714625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summary-gen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2350" y="2714625"/>
            <a:ext cx="1238250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49968" y="2714625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action-extract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600" y="3143250"/>
            <a:ext cx="7924800" cy="666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0100" y="32861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Servers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228850" y="3333750"/>
            <a:ext cx="104775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18373" y="3333750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71850" y="33337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2325" y="333375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19600" y="33337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10075" y="333375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Gmail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67350" y="33337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57825" y="333375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600" y="400050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00100" y="4143375"/>
            <a:ext cx="76946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→ 분석 → 요약 → 액션아이템 추출 → Notion/Slack 공유까지 자동화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전체 활용 - ROI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보는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1905000" cy="428625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1333500"/>
            <a:ext cx="1905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5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19600" y="1333500"/>
            <a:ext cx="1905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10100" y="133350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600" y="1333500"/>
            <a:ext cx="2209800" cy="428625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15100" y="1333500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지원사업 검토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14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14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5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5시간/주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19600" y="17621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19600" y="2233612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0100" y="17621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30분/주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4600" y="1762125"/>
            <a:ext cx="2209800" cy="47625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24600" y="2233612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5100" y="176212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요약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14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514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5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2시간/건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19600" y="22383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419600" y="270986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0100" y="22383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10분/건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24600" y="2238375"/>
            <a:ext cx="2209800" cy="47625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24600" y="2709863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5100" y="223837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9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9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준비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14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514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05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4시간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19600" y="271462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419600" y="3186113"/>
            <a:ext cx="1905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0100" y="271462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4600" y="2714625"/>
            <a:ext cx="2209800" cy="47625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24600" y="3186113"/>
            <a:ext cx="2209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5100" y="271462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09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00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회의록 정리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514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705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30분/건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419600" y="3190875"/>
            <a:ext cx="1905000" cy="476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610100" y="3190875"/>
            <a:ext cx="1554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5분/건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24600" y="3190875"/>
            <a:ext cx="2209800" cy="47625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515100" y="3190875"/>
            <a:ext cx="18653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83%↓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09600" y="3905250"/>
            <a:ext cx="7924800" cy="7620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00100" y="4095750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기업 고객 평균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00100" y="433387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절감 효과: $850,000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450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095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설계 방법론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952750"/>
            <a:ext cx="5829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맞춤형 AI 자동화 구축하기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40005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IDENTIFY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" y="42672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식별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7051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95600" y="40005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DESIGN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95600" y="42672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설계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00600" y="3810000"/>
            <a:ext cx="1905000" cy="762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91100" y="40005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DEPLOY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91100" y="4267200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&amp; 개선</a:t>
            </a:r>
            <a:endParaRPr lang="en-US" sz="9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1: IDENTIFY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식별 매트릭스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81125"/>
            <a:ext cx="42862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 rot="16200000">
            <a:off x="381000" y="28575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빈도 높음 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47950" y="40005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가능성 높음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619250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33500" y="1809750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3500" y="2095500"/>
            <a:ext cx="13601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반자동화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 초안, 보고서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0" y="1619250"/>
            <a:ext cx="1714500" cy="114300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8000" y="1809750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8000" y="2095500"/>
            <a:ext cx="13601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자동화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리뷰, 경쟁사 뉴스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762250"/>
            <a:ext cx="1714500" cy="1143000"/>
          </a:xfrm>
          <a:prstGeom prst="rect">
            <a:avLst/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33500" y="2952750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3500" y="3238500"/>
            <a:ext cx="13601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 (수동)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창의적 업무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57500" y="2762250"/>
            <a:ext cx="1714500" cy="11430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48000" y="2952750"/>
            <a:ext cx="136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48000" y="3238500"/>
            <a:ext cx="13601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지원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리팩토링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43500" y="1381125"/>
            <a:ext cx="3390900" cy="28575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000" y="1571625"/>
            <a:ext cx="3070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우선순위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34000" y="19050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57850" y="1905000"/>
            <a:ext cx="2739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A: 최우선 자동화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57850" y="2143125"/>
            <a:ext cx="27397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 높음 + 자동화 쉬움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리뷰, 경쟁사 모니터링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34000" y="26193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57850" y="2619375"/>
            <a:ext cx="2739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B: 반자동화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57850" y="2857500"/>
            <a:ext cx="27397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 높음 + 판단 필요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 초안, 보고서 작성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34000" y="33337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57850" y="3333750"/>
            <a:ext cx="2739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C: 도구 지원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57850" y="3571875"/>
            <a:ext cx="27397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 낮음 + 자동화 가능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리팩토링, 마이그레이션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" y="442912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영역부터 시작해서 점진적으로 확장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2: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SKILL.md 작성 템플릿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285875"/>
            <a:ext cx="7924800" cy="3333750"/>
          </a:xfrm>
          <a:prstGeom prst="roundRect">
            <a:avLst>
              <a:gd name="adj" fmla="val 3429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287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.claude/skills/[skill-name]/SKILL.md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666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18573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</a:t>
            </a:r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[스킬 이름]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00100" y="2047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</a:t>
            </a:r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[한 줄 설명]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00100" y="22383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allowed-tools: </a:t>
            </a:r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[허용 도구 목록]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2428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00100" y="271462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트리거 키워드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00100" y="290512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"[키워드1]", "[키워드2]"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00100" y="3190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입력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00100" y="33813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[필수 입력 1], [선택 입력 2]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00100" y="366712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프로세스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00100" y="385762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[단계 1]  2. [단계 2]  3. [단계 3]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00100" y="41433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2C5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출력 형식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00100" y="4333875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[출력 포맷: 마크다운, JSON, 리포트 등]</a:t>
            </a:r>
            <a:endParaRPr lang="en-US" sz="9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선택 가이드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용도별 추천 MCP 서버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2667000" cy="428625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76600" y="1333500"/>
            <a:ext cx="26670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67100" y="1333500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0" y="1333500"/>
            <a:ext cx="2590800" cy="428625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4100" y="1333500"/>
            <a:ext cx="22539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1762125"/>
            <a:ext cx="2667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600" y="2185987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1762125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관리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76600" y="1762125"/>
            <a:ext cx="2667000" cy="42862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76600" y="2185987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7100" y="1762125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GitHub, GitLab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0" y="1762125"/>
            <a:ext cx="2590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43600" y="2185987"/>
            <a:ext cx="2590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4100" y="1762125"/>
            <a:ext cx="22539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9600" y="2190750"/>
            <a:ext cx="2667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600" y="2614613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" y="2190750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관리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76600" y="2190750"/>
            <a:ext cx="2667000" cy="42862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76600" y="2614613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7100" y="2190750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Notion, Google Drive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2190750"/>
            <a:ext cx="2590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43600" y="2614613"/>
            <a:ext cx="2590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4100" y="2190750"/>
            <a:ext cx="22539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9600" y="2619375"/>
            <a:ext cx="2667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9600" y="3043238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" y="2619375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커뮤니케이션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76600" y="2619375"/>
            <a:ext cx="2667000" cy="42862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276600" y="3043238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7100" y="2619375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Slack, Gmail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2619375"/>
            <a:ext cx="2590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943600" y="3043238"/>
            <a:ext cx="2590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34100" y="2619375"/>
            <a:ext cx="22539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9600" y="3048000"/>
            <a:ext cx="2667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09600" y="3471863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" y="3048000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관리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76600" y="3048000"/>
            <a:ext cx="2667000" cy="42862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76600" y="3471863"/>
            <a:ext cx="26670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67100" y="3048000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Jira, Linear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43600" y="3048000"/>
            <a:ext cx="2590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943600" y="3471863"/>
            <a:ext cx="2590800" cy="0"/>
          </a:xfrm>
          <a:prstGeom prst="line">
            <a:avLst/>
          </a:prstGeom>
          <a:noFill/>
          <a:ln w="9525">
            <a:solidFill>
              <a:srgbClr val="E5E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4100" y="3048000"/>
            <a:ext cx="22539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개발/PM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09600" y="3476625"/>
            <a:ext cx="2667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00100" y="3476625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정보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76600" y="3476625"/>
            <a:ext cx="2667000" cy="428625"/>
          </a:xfrm>
          <a:prstGeom prst="rect">
            <a:avLst/>
          </a:prstGeom>
          <a:solidFill>
            <a:srgbClr val="F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467100" y="3476625"/>
            <a:ext cx="23317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Search, Context7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43600" y="3476625"/>
            <a:ext cx="25908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34100" y="3476625"/>
            <a:ext cx="22539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영업/전체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30352" y="4191000"/>
            <a:ext cx="8083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MCP 서버 목록: mcpcat.io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3: DEPLOY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테스트 체크리스트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8650" y="1333500"/>
            <a:ext cx="0" cy="52387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333500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트리거 키워드 정상 동작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1952625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8650" y="1952625"/>
            <a:ext cx="0" cy="52387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195262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입력값 검증 로직 확인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571750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571750"/>
            <a:ext cx="0" cy="52387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571750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출력 형식 일관성 확인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09600" y="3190875"/>
            <a:ext cx="38100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3190875"/>
            <a:ext cx="0" cy="52387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" y="3190875"/>
            <a:ext cx="34975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에러 처리 시나리오 테스트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762500" y="1333500"/>
            <a:ext cx="3771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81550" y="1333500"/>
            <a:ext cx="0" cy="523875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3000" y="1333500"/>
            <a:ext cx="34587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권한 설정 적절성 검토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762500" y="1952625"/>
            <a:ext cx="3771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81550" y="1952625"/>
            <a:ext cx="0" cy="523875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3000" y="1952625"/>
            <a:ext cx="34587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비용(토큰 사용량) 측정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762500" y="2571750"/>
            <a:ext cx="3771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81550" y="2571750"/>
            <a:ext cx="0" cy="523875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3000" y="2571750"/>
            <a:ext cx="34587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팀원 피드백 수렴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4762500" y="3190875"/>
            <a:ext cx="377190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81550" y="3190875"/>
            <a:ext cx="0" cy="523875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3000" y="3190875"/>
            <a:ext cx="345871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Git 커밋 및 팀 공유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09600" y="4000500"/>
            <a:ext cx="7924800" cy="666750"/>
          </a:xfrm>
          <a:prstGeom prst="roundRect">
            <a:avLst>
              <a:gd name="adj" fmla="val 17143"/>
            </a:avLst>
          </a:prstGeom>
          <a:solidFill>
            <a:srgbClr val="22C55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4662" y="4191000"/>
            <a:ext cx="76946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 → 피드백 수집 → 점진적 개선 → 전사 확대</a:t>
            </a:r>
            <a:endParaRPr lang="en-US" sz="11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4500"/>
            <a:ext cx="97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095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09600" y="2952750"/>
            <a:ext cx="5829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테이크어웨이 &amp; 다음 단계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테이크어웨이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기억할 5가지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7924800" cy="571500"/>
          </a:xfrm>
          <a:prstGeom prst="roundRect">
            <a:avLst>
              <a:gd name="adj" fmla="val 2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333500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100" b="1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28750" y="1476375"/>
            <a:ext cx="7053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맞춤형 - 개발/영업/경영지원 각각 다른 활용법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000250"/>
            <a:ext cx="7924800" cy="57150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2000250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100" b="1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28750" y="2143125"/>
            <a:ext cx="7053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= Skills + MCP - 조합으로 무한 확장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600" y="2667000"/>
            <a:ext cx="7924800" cy="5715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667000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100" b="1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28750" y="2809875"/>
            <a:ext cx="7053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 - 한 가지 반복 업무부터 자동화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600" y="3333750"/>
            <a:ext cx="7924800" cy="5715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0100" y="3333750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100" b="1" dirty="0">
                <a:solidFill>
                  <a:srgbClr val="FFFFFF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28750" y="3476625"/>
            <a:ext cx="7053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측정 - 시간 절감 → 비용 절감으로 환산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00500"/>
            <a:ext cx="79248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4000500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100" b="1" dirty="0">
                <a:solidFill>
                  <a:srgbClr val="000000">
                    <a:alpha val="3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28750" y="4143375"/>
            <a:ext cx="7053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점진적 확장 - 성공 사례 기반으로 전사 확대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내일부터 할 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1809750"/>
          </a:xfrm>
          <a:prstGeom prst="roundRect">
            <a:avLst>
              <a:gd name="adj" fmla="val 631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5240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8573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팀별 반복 업무 3개 식별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19075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가장 ROI 높은 1개 선정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252412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첫 번째 에이전트 초안 작성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7250" y="1333500"/>
            <a:ext cx="3867150" cy="1809750"/>
          </a:xfrm>
          <a:prstGeom prst="roundRect">
            <a:avLst>
              <a:gd name="adj" fmla="val 631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0" y="1524000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57750" y="1857375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에이전트 테스트 및 개선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7750" y="2190750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팀 내 공유 및 피드백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7750" y="2524125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성과 측정 (시간 절감)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3333750"/>
            <a:ext cx="7924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100" y="3524250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Quick Start - 오늘 바로 해볼 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0100" y="3857625"/>
            <a:ext cx="76946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내 업무 중 가장 귀찮은 반복 작업 1개 떠올리기</a:t>
            </a:r>
            <a:endParaRPr lang="en-US" sz="13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Claude Code에 "이 작업 자동화할 수 있어?"라고 물어보기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6250"/>
            <a:ext cx="6800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리소스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048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알아보기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6285" y="55245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333500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476375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문서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0100" y="166687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code.claude.com/docs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667250" y="1333500"/>
            <a:ext cx="38671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750" y="1476375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57750" y="1666875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anthropic.com/engineering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143125"/>
            <a:ext cx="3810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286000"/>
            <a:ext cx="3497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서버 목록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0100" y="2476500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mcpcat.io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667250" y="2143125"/>
            <a:ext cx="38671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57750" y="2286000"/>
            <a:ext cx="3555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커뮤니티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57750" y="2476500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67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github.com/anthropics/claude-code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3048000"/>
            <a:ext cx="7924800" cy="1238250"/>
          </a:xfrm>
          <a:prstGeom prst="roundRect">
            <a:avLst>
              <a:gd name="adj" fmla="val 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3238500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내부 리소스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" y="3571875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Slack: #claude-code-help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00100" y="3857625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Notion: /AI 활용 가이드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762500" y="3571875"/>
            <a:ext cx="3653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담당자: [담당자 이름]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762500" y="3857625"/>
            <a:ext cx="3653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Office Hour: 매주 금요일 3PM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530352" y="452437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질문이 있으시면 언제든 Slack 채널로 문의해주세요!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714500"/>
            <a:ext cx="808329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530352" y="2571750"/>
            <a:ext cx="808329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&amp; 답변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09600" y="3333750"/>
            <a:ext cx="2476500" cy="952500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9145" y="357187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팀 활용법</a:t>
            </a:r>
            <a:endParaRPr lang="en-US" sz="1125" dirty="0"/>
          </a:p>
          <a:p>
            <a:pPr algn="ctr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질문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333750" y="3333750"/>
            <a:ext cx="2476500" cy="952500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03295" y="357187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설계</a:t>
            </a:r>
            <a:endParaRPr lang="en-US" sz="1125" dirty="0"/>
          </a:p>
          <a:p>
            <a:pPr algn="ctr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질문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57900" y="3333750"/>
            <a:ext cx="2476500" cy="952500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27445" y="3571875"/>
            <a:ext cx="21374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계획</a:t>
            </a:r>
            <a:endParaRPr lang="en-US" sz="1125" dirty="0"/>
          </a:p>
          <a:p>
            <a:pPr algn="ctr" indent="0" marL="0">
              <a:lnSpc>
                <a:spcPts val="1875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질문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30352" y="45720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Team Applications</dc:title>
  <dc:subject>PptxGenJS Presentation</dc:subject>
  <dc:creator>Development Team</dc:creator>
  <cp:lastModifiedBy>Development Team</cp:lastModifiedBy>
  <cp:revision>1</cp:revision>
  <dcterms:created xsi:type="dcterms:W3CDTF">2026-01-07T01:23:21Z</dcterms:created>
  <dcterms:modified xsi:type="dcterms:W3CDTF">2026-01-07T01:23:21Z</dcterms:modified>
</cp:coreProperties>
</file>