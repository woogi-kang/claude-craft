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333500" cy="3048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6265" y="381000"/>
            <a:ext cx="13601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가이드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96250" y="381000"/>
            <a:ext cx="571500" cy="3048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90535" y="381000"/>
            <a:ext cx="582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714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완벽 가이드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600" y="2571750"/>
            <a:ext cx="6800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팀을 위한 AI 개발 도구 마스터하기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9600" y="304800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Claude Code인가? 어떻게 사용하는가? 팀으로 어떻게 협업하는가?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0960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9600" y="4572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전체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66700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시간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67000" y="45720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60-75분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8625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86250" y="45720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70장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3886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10953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0953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왜 Claude Code인가?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6478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6478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시작하기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002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2002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팀 협업 기능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7527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27527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Skills &amp;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4400" y="10953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900" y="10953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MCP 통합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4400" y="16478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16478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워크플로우 &amp; Best Practices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4400" y="220027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220027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팀 도입 가이드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400" y="27527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900" y="2752725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Q&amp;A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361950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기초부터 고급 기능까지 - Claude Code를 마스터하고 팀으로 효과적으로 협업하는 모든 것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발표가 끝나면...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1524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Code가 왜 다른 AI 도구와 다른지 이해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190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238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2286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사용법부터 고급 기능까지 숙지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09600" y="2952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000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3048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팀으로서 일관되게 사용하는 방법 습득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09600" y="371475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0100" y="3762375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3500" y="381000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내일부터 바로 적용 가능한 실전 스킬 확보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코딩 도구의 현재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AI 코딩 도구 시장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223456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55% 생산성 향상 주장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33750" y="138112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4250" y="1524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4250" y="1857375"/>
            <a:ext cx="223456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"Copilot보다 2배 빠르다" 주장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57900" y="138112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8400" y="1524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48400" y="1857375"/>
            <a:ext cx="223456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"Agentic Coding의 새로운 패러다임"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048000"/>
            <a:ext cx="7924800" cy="114300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0110" y="3333750"/>
            <a:ext cx="73837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걸 선택해야 할까?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30352" y="447675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도구의 철학과 접근 방식을 이해하면 답이 보입니다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Claude Code인가?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IDE-First vs Agent-First 접근의 차이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가지 철학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IDE-First vs Agent-First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14600" y="1333500"/>
            <a:ext cx="3009900" cy="381000"/>
          </a:xfrm>
          <a:prstGeom prst="rect">
            <a:avLst/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84501" y="1333500"/>
            <a:ext cx="3070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IDE-First (Copilot, Cursor)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0" y="1333500"/>
            <a:ext cx="3009900" cy="3810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94401" y="1333500"/>
            <a:ext cx="3070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Agent-First (Claude Code)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1714500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" y="1714500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1714500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14600" y="2233612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5100" y="171450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라인별 자동완성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4500" y="1714500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24500" y="2233612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71450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작업 수행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" y="2238375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9600" y="2757487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" y="2238375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14600" y="2238375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514600" y="2757487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5100" y="223837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파일 중심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24500" y="2238375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524500" y="2757487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23837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코드베이스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" y="2762250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09600" y="32813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" y="2762250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14600" y="2762250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514600" y="3281363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5100" y="276225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제안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24500" y="2762250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524500" y="3281363"/>
            <a:ext cx="30099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762250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완료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9600" y="3286125"/>
            <a:ext cx="1905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00100" y="3286125"/>
            <a:ext cx="1554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514600" y="3286125"/>
            <a:ext cx="3009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05100" y="328612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줄 다음에 뭐?"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24500" y="3286125"/>
            <a:ext cx="30099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15000" y="3286125"/>
            <a:ext cx="26814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기능 전체 구현해줘"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0352" y="419100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패러다임의 차이: 보조 도구 vs 동료 개발자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비교 테이블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vs GitHub Copilot vs Cursor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1165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133600" y="1333500"/>
            <a:ext cx="2324100" cy="3810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10359" y="1333500"/>
            <a:ext cx="23705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457700" y="1333500"/>
            <a:ext cx="2038350" cy="381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37317" y="1333500"/>
            <a:ext cx="20791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Copilot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496050" y="1333500"/>
            <a:ext cx="2038350" cy="381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75667" y="1333500"/>
            <a:ext cx="20791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171450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" y="210978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171450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자동완성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133600" y="171450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133600" y="210978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10359" y="171450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57700" y="17145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57700" y="21097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7317" y="17145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496050" y="17145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96050" y="21097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5667" y="17145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09600" y="211455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250983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" y="211455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파일 수정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133600" y="211455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133600" y="250983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0359" y="211455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457700" y="21145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457700" y="25098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7317" y="21145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496050" y="21145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96050" y="25098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5667" y="21145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09600" y="251460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9600" y="290988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" y="251460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 통합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133600" y="251460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133600" y="290988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10359" y="251460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4457700" y="25146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457700" y="29098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7317" y="25146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6496050" y="25146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496050" y="29098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5667" y="25146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609600" y="291465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09600" y="330993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" y="291465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2133600" y="291465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2133600" y="330993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10359" y="291465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4457700" y="29146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457700" y="33099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7317" y="29146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6496050" y="29146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6496050" y="330993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75667" y="29146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609600" y="331470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9600" y="3709988"/>
            <a:ext cx="1524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0100" y="331470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에코시스템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2133600" y="331470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2133600" y="3709988"/>
            <a:ext cx="23241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10359" y="331470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✓✓✓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4457700" y="33147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4457700" y="37099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7317" y="33147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6496050" y="331470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496050" y="3709988"/>
            <a:ext cx="20383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75667" y="331470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609600" y="3714750"/>
            <a:ext cx="1524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00100" y="371475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티어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2133600" y="3714750"/>
            <a:ext cx="2324100" cy="4000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2110359" y="3714750"/>
            <a:ext cx="23705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4457700" y="37147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4437317" y="37147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6496050" y="3714750"/>
            <a:ext cx="20383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475667" y="3714750"/>
            <a:ext cx="2079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530352" y="438150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에코시스템이 Claude Code만의 핵심 차별점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 1: Agentic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생성기가 아닌 '동료 개발자'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180975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1503" y="1619250"/>
            <a:ext cx="1845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11743" y="166687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95600" y="1428750"/>
            <a:ext cx="180975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77502" y="1619250"/>
            <a:ext cx="1845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97743" y="166687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81600" y="1428750"/>
            <a:ext cx="180975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63503" y="1619250"/>
            <a:ext cx="1845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83743" y="166687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67600" y="1428750"/>
            <a:ext cx="1066800" cy="7620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6932" y="1619250"/>
            <a:ext cx="1088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9600" y="247650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261937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파일 탐색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09600" y="314325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28612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실행 및 버그 수정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09600" y="381000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0100" y="395287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다단계 작업을 자율적으로 완료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724400" y="2476500"/>
            <a:ext cx="3810000" cy="1905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900" y="26670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4900" y="2952750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"인증 기능 추가해줘"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4900" y="33337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파일 생성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4900" y="358140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테스트 작성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4900" y="38290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PR 생성까지 자동 완료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 2: 전체 코드베이스 이해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프로젝트가 어떻게 동작하는지 알아"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전체 코드베이스 분석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 개 파일도 자동으로 탐색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4287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아키텍처, 의존성, 패턴 파악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9149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구조를 즉시 이해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241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코드 스타일 학습 및 적용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00100" y="2809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팀의 컨벤션을 자동으로 따름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5241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시간 단축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914900" y="2809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주 → 1-2일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476625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76237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"신입 개발자가 첫날부터 생산적으로 코딩할 수 있습니다"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 3: MCP 에코시스템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USB-C 포트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1714500"/>
          </a:xfrm>
          <a:prstGeom prst="roundRect">
            <a:avLst>
              <a:gd name="adj" fmla="val 8889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MCP란?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" y="1905000"/>
            <a:ext cx="349758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도구와 표준 프로토콜로 연결하는 개방형 시스템. GitHub, Jira, Confluence, DB 등에 직접 접근 가능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12018" y="1476375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57900" y="13811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45518" y="1476375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91400" y="13811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79018" y="1476375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Confluence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000250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12018" y="2095500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57900" y="2000250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45518" y="2095500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91400" y="2000250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79018" y="2095500"/>
            <a:ext cx="12630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+수천 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4400" y="2619375"/>
            <a:ext cx="3905250" cy="476250"/>
          </a:xfrm>
          <a:prstGeom prst="roundRect">
            <a:avLst>
              <a:gd name="adj" fmla="val 16000"/>
            </a:avLst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9658" y="2714625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커뮤니티에서 수천 개 MCP 서버 제공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09600" y="3381375"/>
            <a:ext cx="7924800" cy="104775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2500" y="3571875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사용 예시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2500" y="385762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"Jira ENG-4521 이슈 기능 구현하고 GitHub PR 만들어"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생산성 수치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보는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4-8개월 → 2주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0100" y="19050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Augment Code 고객 사례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24000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2-10x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14900" y="19050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Altana - 개발 속도 향상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476500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619375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7시간 자율 코딩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00100" y="3000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Rakuten - 기존 몇 주 작업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476500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619375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10-15분 → 5분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914900" y="3000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보안팀 - 스택 트레이스 분석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714750"/>
            <a:ext cx="7924800" cy="7620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952875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반복적인 작업에서 가장 큰 효과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주의사항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알아야 할 것들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 연구 결과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숙련 개발자 작업 시간 19% 증가 사례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2400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GitClear 보고서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4900" y="18097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중복 8배 증가 (2024년)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381250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241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Harness 설문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" y="2809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67% 개발자가 AI 코드 디버깅에 더 많은 시간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52425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0110" y="3762375"/>
            <a:ext cx="73837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이해하고 올바르게 사용해야 함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시작하기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설치부터 첫 번째 대화까지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안에 시작하기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7924800" cy="1905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설치 (방법 1)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@anthropic-ai/claude-code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428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설치 (방법 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667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 -fsSL https://code.claude.com/install.sh | 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3000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시작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238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3524250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667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Node.js 18+ 필요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3905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Homebrew: brew install claude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24400" y="3524250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3667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업데이트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4900" y="3905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update 명령으로 최신 버전 유지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CLI 명령어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CLI 명령어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3497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19600" y="1333500"/>
            <a:ext cx="4114800" cy="381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10100" y="1333500"/>
            <a:ext cx="38084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1714500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138363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" y="1714500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19600" y="1714500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19600" y="2138363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0100" y="1714500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시작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2143125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" y="2566988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" y="2143125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"질문"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19600" y="2143125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419600" y="2566988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0100" y="2143125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함께 시작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600" y="2571750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2995613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" y="2571750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19600" y="2571750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419600" y="2995613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0100" y="2571750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대화 재개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600" y="3000375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9600" y="3424238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" y="3000375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"질문"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19600" y="3000375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419600" y="3424238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0100" y="3000375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후 종료 (SDK 모드)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9600" y="3429000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09600" y="3852863"/>
            <a:ext cx="3810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" y="3429000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update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19600" y="3429000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419600" y="3852863"/>
            <a:ext cx="411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0100" y="3429000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업데이트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9600" y="3857625"/>
            <a:ext cx="3810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0100" y="3857625"/>
            <a:ext cx="34975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list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19600" y="3857625"/>
            <a:ext cx="4114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10100" y="3857625"/>
            <a:ext cx="38084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목록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슬래시 커맨드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쓰는 슬래시 커맨드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478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/help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05000" y="1447800"/>
            <a:ext cx="23705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1905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019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05000" y="2019300"/>
            <a:ext cx="23705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확인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476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90800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/model opus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95500" y="2590800"/>
            <a:ext cx="21762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변경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048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0100" y="3162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05000" y="3162300"/>
            <a:ext cx="23705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초기화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4400" y="1333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4900" y="14478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0" y="14478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압축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4400" y="1905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2019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0" y="20193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사용량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4400" y="2476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4900" y="25908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/config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6000" y="25908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열기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4400" y="30480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4900" y="31623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0" y="3162300"/>
            <a:ext cx="22928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초기화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9600" y="381000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0110" y="4000500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Tip: /help를 입력하면 모든 커맨드 목록을 볼 수 있습니다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키보드 단축키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10배 올리는 단축키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4780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6954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취소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333750" y="133350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4250" y="144780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24250" y="16954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클리어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57900" y="133350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8400" y="1447800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Esc + Esc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48400" y="16954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2143125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0100" y="22574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Shift+Tab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0100" y="25050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모드 전환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333750" y="2143125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24250" y="22574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시작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4250" y="25050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CLAUDE.md에 메모리 추가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057900" y="2143125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48400" y="22574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8400" y="25050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경로 자동완성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9600" y="2952750"/>
            <a:ext cx="2571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0100" y="306705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 시작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0100" y="33147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Bash 모드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09600" y="3905250"/>
            <a:ext cx="7924800" cy="57150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80110" y="4048125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쓰는 단축키: Shift+Tab (권한 모드 전환)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설정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안전하게 사용하기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모드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666875"/>
            <a:ext cx="257175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90700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3835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권한 확인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33750" y="1666875"/>
            <a:ext cx="257175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4250" y="1790700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acceptEdits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4250" y="203835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편집만 자동 승인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57900" y="1666875"/>
            <a:ext cx="257175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1790700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8400" y="203835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모드 (실행 안 함)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261937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예시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2952750"/>
            <a:ext cx="7924800" cy="142875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095625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settings.json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00100" y="333375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52500" y="354330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"permissions": {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104900" y="375285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"allow": ["Bash(npm:*)", "Bash(git:*)"],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104900" y="396240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"deny": ["Bash(rm:*)", "Read(.env)"]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00100" y="4171950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}}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 통합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 &amp; JetBrains에서 사용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0100" y="20002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마켓플레이스에서 "Claude Code" 설치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38125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381250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Cmd+Shift+E (Mac)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57500" y="2476500"/>
            <a:ext cx="13990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Ctrl+Shift+E (Win)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1381125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571625"/>
            <a:ext cx="34975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JetBrains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914900" y="20002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 Marketplace에서 설치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4900" y="2381250"/>
            <a:ext cx="3497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 내 Claude Code 사용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571875"/>
            <a:ext cx="7924800" cy="857250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2500" y="3762375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4048125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터미널에서 직접 사용하는 것이 더 강력합니다 - IDE는 보조 도구로 활용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대화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실습: Hello Claude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667000"/>
          </a:xfrm>
          <a:prstGeom prst="roundRect">
            <a:avLst>
              <a:gd name="adj" fmla="val 428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시작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47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claude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428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프로젝트 이해 요청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667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프로젝트 구조와 아키텍처 설명해줘"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3048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간단한 작업 요청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286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"README.md에 설치 방법 추가해줘"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" y="3667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비용 확인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" y="3905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/cost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423862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대화에서는 프로젝트 이해부터 시작하세요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효과적인 프롬프트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프롬프트 vs 나쁜 프롬프트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예 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666875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8383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이 API가 이상해?"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333625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5050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"테스트 추가해"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724400" y="1333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예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4400" y="1666875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809750"/>
            <a:ext cx="34975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"ExecutionFactory의 git 히스토리를 분석하고 API 설계 결정 과정 요약해줘"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4400" y="2524125"/>
            <a:ext cx="3810000" cy="7620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2667000"/>
            <a:ext cx="34975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"로그아웃 사용자 시나리오를 커버하는 테스트 케이스 작성해줘. 목(mock) 사용하지 말고"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52425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2500" y="3714750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작성 원칙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4000500"/>
            <a:ext cx="7383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맥락 + 원하는 결과 + 제약 조건 = 좋은 프롬프트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탐색-계획-코딩-커밋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읽기, 구조 파악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1743" y="176212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95600" y="1381125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86100" y="15240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86100" y="1809750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86100" y="20955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"think hard" 사용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97743" y="176212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81600" y="1381125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72100" y="15240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72100" y="1809750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72100" y="20955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실행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3743" y="1762125"/>
            <a:ext cx="291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67600" y="1381125"/>
            <a:ext cx="1066800" cy="9525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62850" y="1524000"/>
            <a:ext cx="893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62850" y="1809750"/>
            <a:ext cx="8938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62850" y="2095500"/>
            <a:ext cx="8938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생성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9600" y="2667000"/>
            <a:ext cx="79248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0100" y="2857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예시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0100" y="3143250"/>
            <a:ext cx="75780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"먼저 이 모듈 구조를 분석해줘. 아직 코드는 수정하지 마"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00100" y="3429000"/>
            <a:ext cx="75780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탐색 단계에서 코딩을 금지하여 정확한 이해 우선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414337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단계를 구분하여 Claude가 각 단계에 집중하도록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협업 기능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CLAUDE.md와 설정 공유로 팀 전체가 같은 경험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- 팀의 두뇌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지식을 코드로 저장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90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개요, 기술 스택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4400" y="1381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4900" y="1590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규칙, 테스트 요구사항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143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352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쓰는 명령어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4400" y="2143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235267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워크플로우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04800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0110" y="3333750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 → 팀 전체가 같은 컨텍스트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0352" y="428625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CLAUDE.md는 팀의 지식을 Claude에게 전달하는 가장 효과적인 방법입니다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계층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레벨의 설정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7924800" cy="17145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0" y="1571625"/>
            <a:ext cx="462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개인 전역 설정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.claude/CLAUDE.md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0" y="2000250"/>
            <a:ext cx="462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프로젝트 공유 설정 (Git)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428875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.claude/CLAUDE.local.md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0" y="2428875"/>
            <a:ext cx="462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개인 프로젝트 설정 (gitignored)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2809875"/>
            <a:ext cx="7578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우선순위: 프로젝트 &gt; 개인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33375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476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우선순위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37623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설정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333750" y="333375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24250" y="3476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우선순위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4250" y="37623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로컬 설정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57900" y="333375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48400" y="3476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우선순위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48400" y="376237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설정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0352" y="433387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설정은 프로젝트에, 개인 선호는 로컬에 분리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예시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CLAUDE.md 템플릿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304800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프로젝트: MyApp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기술 스택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3336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18, TypeScript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5431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Node.js, Express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7527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0861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코드 규칙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" y="33242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2칸 들여쓰기, Prettier + ESLint, 테스트 필수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" y="36576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명령어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38957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dev    # 개발 서버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0100" y="41052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test       # 테스트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45720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/init 명령으로 자동 생성 가능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경로별 규칙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.claude/rules/ 디렉토리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133350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 구조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.claude/rules/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general.md      # 전체 적용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typescript.md   # *.ts, *.tsx에만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api.md          # src/api/**에만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24400" y="1333500"/>
            <a:ext cx="3810000" cy="1809750"/>
          </a:xfrm>
          <a:prstGeom prst="roundRect">
            <a:avLst>
              <a:gd name="adj" fmla="val 631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49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14900" y="19716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paths: src/**/*.{ts,tsx}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14900" y="21812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14900" y="24860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 타입 금지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6955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모든 함수에 반환 타입 명시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09600" y="338137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571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파일별 맞춤 규칙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00100" y="38290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파일에만 적용되는 규칙 설정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24400" y="338137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900" y="3571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표준 강제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914900" y="38290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YAML frontmatter로 경로 패턴 지정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30352" y="43815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프론트엔드, 백엔드, API 등 영역별 다른 규칙 적용 가능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파일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 폴더 완전 분석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286250" cy="304800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 디렉토리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settings.json       # 프로젝트 설정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settings.local.json # 개인 설정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CLAUDE.md          # 팀 메모리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6289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agents/            # 커스텀 에이전트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28384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commands/          # 슬래시 커맨드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0480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skills/            # 스킬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2575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rules/             # 경로별 규칙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46710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.mcp.json          # MCP 서버 설정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00650" y="1333500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91150" y="1476375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1150" y="1714500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settings.json, CLAUDE.md, rules/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200650" y="2143125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91150" y="2286000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Git에서 제외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1150" y="2524125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settings.local.json, CLAUDE.local.md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200650" y="2952750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91150" y="3095625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기능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1150" y="3333750"/>
            <a:ext cx="3011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agents/, commands/, skills/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0352" y="45720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설정과 개인 설정을 명확히 분리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 핵심 설정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전체 설정 관리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667000"/>
          </a:xfrm>
          <a:prstGeom prst="roundRect">
            <a:avLst>
              <a:gd name="adj" fmla="val 428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52500" y="2000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"model": "claude-sonnet-4-5-20250929",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52500" y="2286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"permissions": {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104900" y="2524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"allow": ["Bash(npm:*)", "Bash(git:*)"],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04900" y="2762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"deny": ["Bash(curl:*)", "Read(.env*)"]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52500" y="3000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3238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"hooks": { "PostToolUse": [...] },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34766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"enabledMcpjsonServers": ["github"]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7147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0352" y="423862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모두가 같은 모델, 권한, MCP 서버를 사용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온보딩 설정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팀원을 위한 원클릭 설정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1524000" cy="5715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543050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저장소 클론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25993" y="15716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09850" y="1381125"/>
            <a:ext cx="1524000" cy="5715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94610" y="1543050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claude 실행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226243" y="15716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0100" y="1381125"/>
            <a:ext cx="1905000" cy="5715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9105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CLAUDE.md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1050" y="16668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로드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607493" y="15716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1350" y="1381125"/>
            <a:ext cx="1638300" cy="57150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74967" y="1543050"/>
            <a:ext cx="16710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완료!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2190750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23622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자동 설정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00100" y="261937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.mcp.json에서 자동으로 연결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24400" y="2190750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23622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규칙 적용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914900" y="261937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settings.json에서 자동으로 적용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9600" y="323850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0110" y="3524250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모든 팀원이 동일한 Claude 경험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30352" y="442912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팀원도 첫날부터 팀의 베스트 프랙티스를 적용받습니다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통합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+ Git 워크플로우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104775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생성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8097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"변경사항 커밋해줘"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95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자동으로 적절한 커밋 메시지 생성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1381125"/>
            <a:ext cx="3810000" cy="104775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4900" y="1524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생성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14900" y="18097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"GitHub에 PR 만들어줘"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4900" y="2095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변경 내용 요약하여 PR 설명 작성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2619375"/>
            <a:ext cx="7924800" cy="1047750"/>
          </a:xfrm>
          <a:prstGeom prst="roundRect">
            <a:avLst>
              <a:gd name="adj" fmla="val 10909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27622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연동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0100" y="3048000"/>
            <a:ext cx="73837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"JIRA ENG-4521 이슈 해결하고 PR 만들어"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00100" y="3333750"/>
            <a:ext cx="73837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이슈 내용 파악 → 구현 → 테스트 → PR 생성까지 자동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09600" y="3905250"/>
            <a:ext cx="2571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407670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컨벤션 자동 적용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3750" y="3905250"/>
            <a:ext cx="2571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24250" y="407670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브랜치 관리 자동화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57900" y="3905250"/>
            <a:ext cx="2571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48400" y="4076700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리뷰어 자동 지정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일관성 체크리스트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설정 체크리스트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5240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작성 및 Git 커밋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240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57800" y="15240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.claude/rules/ 규칙 정의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04787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19075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" y="219075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 권한 설정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724400" y="204787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19075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57800" y="219075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설정 공유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27146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28575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" y="28575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온보딩 문서 작성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724400" y="2714625"/>
            <a:ext cx="3810000" cy="523875"/>
          </a:xfrm>
          <a:prstGeom prst="roundRect">
            <a:avLst>
              <a:gd name="adj" fmla="val 1818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2857500"/>
            <a:ext cx="2914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57800" y="2857500"/>
            <a:ext cx="3206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커맨드 정의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09600" y="352425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0110" y="3762375"/>
            <a:ext cx="73837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항목 완료 → 팀 Claude Code 환경 완성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9050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&amp; Commands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680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작업을 자동화하고 팀과 공유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개념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작업을 자동화하라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= 특정 작업에 특화된 지침 세트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마크다운 파일로 정의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381125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571625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작성, 모든 팀원이 사용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914900" y="18573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커밋하여 영구 보존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717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키워드로 자동 활성화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00100" y="2857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키워드 입력 시 자동 적용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381250"/>
            <a:ext cx="381000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571750"/>
            <a:ext cx="3497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접근 권한 제어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914900" y="2857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도구만 허용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476625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76237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= 팀의 베스트 프랙티스를 코드화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파일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작성법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133350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 구조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~/.claude/skills/explaining-code/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SKILL.md          # 필수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reference.md      # 선택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examples.md       # 선택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1333500"/>
            <a:ext cx="3810000" cy="1905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4900" y="1762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14900" y="19716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explaining-code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14900" y="21812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코드를 다이어그램으로 설명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14900" y="23907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allowed-tools: Read, Grep, Glob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6003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14900" y="28575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스킬 지침 내용...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" y="347662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36671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YAML Frontmatter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00100" y="39243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메타데이터와 권한 설정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724400" y="347662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900" y="36671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Body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914900" y="39243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지침 및 예시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- 코드 리뷰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Skill: 코드 리뷰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8575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code-review/SKILL.md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code-review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팀 표준 코드 리뷰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7527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코드 리뷰 프로세스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29908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git diff로 변경 확인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" y="32289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각 파일 검토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" y="34671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우선순위별 피드백: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2500" y="37052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🔴 Critical: 반드시 수정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2500" y="39147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🟡 Warning: 수정 권장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442912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팀의 코드 리뷰 표준을 Skill로 정의하여 일관성 유지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슬래시 커맨드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전용 명령어 만들기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333750" cy="123825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 구조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.claude/commands/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deploy.md         # /deploy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20980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security-check.md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41935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feature.md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248150" y="1333500"/>
            <a:ext cx="4286250" cy="1905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65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8650" y="176212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438650" y="19716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스테이징 배포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438650" y="2181225"/>
            <a:ext cx="4080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allowed-tools: Bash(npm:*), Bash(git:*)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438650" y="23907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438650" y="26955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build &amp;&amp;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438650" y="290512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test &amp;&amp;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38650" y="3114675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deploy:staging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09600" y="3524250"/>
            <a:ext cx="792480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0110" y="3762375"/>
            <a:ext cx="7383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/deploy 입력 → 빌드, 테스트, 배포 자동 실행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Hooks 시스템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기반 자동화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2381250" cy="428625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28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90850" y="1333500"/>
            <a:ext cx="238125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81350" y="1428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72100" y="1333500"/>
            <a:ext cx="31623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62600" y="1428750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176212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600" y="2281238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190500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PreToolUse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90850" y="176212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990850" y="2281238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1350" y="190500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실행 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72100" y="1762125"/>
            <a:ext cx="3162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72100" y="2281238"/>
            <a:ext cx="3162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2600" y="1905000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검증, 차단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9600" y="2286000"/>
            <a:ext cx="238125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600" y="2805112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" y="242887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PostToolUse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90850" y="2286000"/>
            <a:ext cx="238125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990850" y="2805112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1350" y="242887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실행 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72100" y="2286000"/>
            <a:ext cx="31623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372100" y="2805112"/>
            <a:ext cx="3162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2600" y="2428875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포맷팅, 로깅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9600" y="280987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9600" y="3328987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" y="2952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SessionStart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90850" y="2809875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990850" y="3328987"/>
            <a:ext cx="238125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1350" y="2952750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시작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72100" y="2809875"/>
            <a:ext cx="3162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372100" y="3328987"/>
            <a:ext cx="3162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2600" y="2952750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설정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9600" y="3333750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0100" y="347662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UserPromptSubmit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90850" y="3333750"/>
            <a:ext cx="23812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81350" y="3476625"/>
            <a:ext cx="20402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제출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72100" y="3333750"/>
            <a:ext cx="3162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62600" y="3476625"/>
            <a:ext cx="2836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검증, 강화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" y="409575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hooks처럼 Claude의 동작을 커스터마이즈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 예시 - 자동 포맷팅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수정 후 자동 Prettier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247650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52500" y="20002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"hooks": {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104900" y="22383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"PostToolUse": [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257300" y="24765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409700" y="27146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"matcher": "Edit|Write",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09700" y="295275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"hooks": [{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562100" y="319087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"type": "command",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562100" y="3429000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"command": "npx prettier --write \"$file_path\""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257300" y="3667125"/>
            <a:ext cx="757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}]}]}}}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9600" y="4000500"/>
            <a:ext cx="7924800" cy="5715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0110" y="4171950"/>
            <a:ext cx="738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모든 파일 수정 후 자동으로 코드 포맷팅 적용</a:t>
            </a:r>
            <a:endParaRPr lang="en-US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공유 워크플로우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Skill 관리 프로세스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15240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4763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94360" y="1733550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81200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작성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226469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2225" y="1381125"/>
            <a:ext cx="1524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46985" y="14763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546985" y="1733550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6985" y="1981200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로컬에서 동작 확인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179094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4850" y="1381125"/>
            <a:ext cx="1524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99610" y="14763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499610" y="1733550"/>
            <a:ext cx="1554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9610" y="1981200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131719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7475" y="1381125"/>
            <a:ext cx="1047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56998" y="1476375"/>
            <a:ext cx="106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456998" y="1733550"/>
            <a:ext cx="10687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56998" y="1981200"/>
            <a:ext cx="1068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pull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608094" y="1666875"/>
            <a:ext cx="2428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43850" y="1381125"/>
            <a:ext cx="685800" cy="76200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36992" y="1638300"/>
            <a:ext cx="699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600" y="2476500"/>
            <a:ext cx="79248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80110" y="2714625"/>
            <a:ext cx="73837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→ 개선 → 재커밋 → 반복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9600" y="3667125"/>
            <a:ext cx="7924800" cy="762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0110" y="3886200"/>
            <a:ext cx="73837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= 팀의 집단 지성을 코드로 축적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381250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Subagent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09600" y="333375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자율적으로 작업하는 AI 에이전트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🤖</a:t>
            </a:r>
            <a:endParaRPr lang="en-US" sz="5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개념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자율적으로 작업하는 AI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097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= 여러 Skills를 조합한 워크플로우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00100" y="204787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다단계 작업을 자동화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647950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57175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다단계 작업 자동화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981325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90512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독립된 컨텍스트에서 실행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314700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32385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결과만 메인 대화에 반환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648075"/>
            <a:ext cx="57150" cy="571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3571875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컨텍스트 보존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4900" y="1666875"/>
            <a:ext cx="3619500" cy="2667000"/>
          </a:xfrm>
          <a:prstGeom prst="roundRect">
            <a:avLst>
              <a:gd name="adj" fmla="val 42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3015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실행 흐름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57900" y="2238375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41720" y="233362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대화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435090" y="2667000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57900" y="2905125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41720" y="300037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실행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435090" y="3333750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00900" y="3571875"/>
            <a:ext cx="952500" cy="333375"/>
          </a:xfrm>
          <a:prstGeom prst="roundRect">
            <a:avLst>
              <a:gd name="adj" fmla="val 1714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88530" y="3648075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1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153150" y="3571875"/>
            <a:ext cx="952500" cy="333375"/>
          </a:xfrm>
          <a:prstGeom prst="roundRect">
            <a:avLst>
              <a:gd name="adj" fmla="val 1714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40780" y="3648075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2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105400" y="3571875"/>
            <a:ext cx="952500" cy="333375"/>
          </a:xfrm>
          <a:prstGeom prst="roundRect">
            <a:avLst>
              <a:gd name="adj" fmla="val 1714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93030" y="3648075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3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336030" y="4000500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55945" y="4191000"/>
            <a:ext cx="2137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반환 → 메인 대화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97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Subagent 타입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제공 에이전트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4953000" cy="428625"/>
          </a:xfrm>
          <a:prstGeom prst="roundRect">
            <a:avLst>
              <a:gd name="adj" fmla="val 1777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7907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43100" y="1790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8100" y="17907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4953000" cy="4762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557838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363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" y="22193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943100" y="221932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다단계 작업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8100" y="22193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2571750"/>
            <a:ext cx="4953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557838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363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269557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Explore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943100" y="269557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코드베이스 탐색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8100" y="26955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Read, Grep, Glob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600" y="3048000"/>
            <a:ext cx="4953000" cy="47625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0100" y="31718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943100" y="3171825"/>
            <a:ext cx="1748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수립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8100" y="31718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Read, Grep, Glob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600" y="3762375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2000" y="3857625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예시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62000" y="4095750"/>
            <a:ext cx="4760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"Explore 에이전트로 인증 관련 코드 찾아줘"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2000" y="4333875"/>
            <a:ext cx="4760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"Plan 에이전트로 리팩토링 계획 세워줘"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67400" y="1666875"/>
            <a:ext cx="2667000" cy="2952750"/>
          </a:xfrm>
          <a:prstGeom prst="roundRect">
            <a:avLst>
              <a:gd name="adj" fmla="val 428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57900" y="1857375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언제 사용하나요?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57900" y="2286000"/>
            <a:ext cx="2331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General: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복잡한 멀티스텝 작업, 코드 생성 및 수정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57900" y="2952750"/>
            <a:ext cx="2331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Explore: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코드베이스 이해, 파일 검색, 패턴 찾기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57900" y="3619500"/>
            <a:ext cx="2331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구현 전 계획, 아키텍처 설계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</a:t>
            </a:r>
            <a:endParaRPr lang="en-US" sz="9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Tool 활용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작업 실행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1714500"/>
          </a:xfrm>
          <a:prstGeom prst="roundRect">
            <a:avLst>
              <a:gd name="adj" fmla="val 6667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"3개 파일을 병렬로 분석해줘"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09550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3336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tool로 3개 Subagent 생성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571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각각 독립 컨텍스트에서 실행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80987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결과 종합하여 반환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524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810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3952875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2000" y="4238625"/>
            <a:ext cx="1263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단축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324100" y="3810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76500" y="3952875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476500" y="4238625"/>
            <a:ext cx="1263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보존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038600" y="3810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91000" y="3905250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독립적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191000" y="4238625"/>
            <a:ext cx="1263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수행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676900" y="16192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2635" y="1762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실행 다이어그램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8900" y="2095500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22720" y="219075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Tool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7867650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15150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62650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81900" y="2762250"/>
            <a:ext cx="762000" cy="476250"/>
          </a:xfrm>
          <a:prstGeom prst="roundRect">
            <a:avLst>
              <a:gd name="adj" fmla="val 12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22858" y="2905125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1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724650" y="2762250"/>
            <a:ext cx="762000" cy="476250"/>
          </a:xfrm>
          <a:prstGeom prst="roundRect">
            <a:avLst>
              <a:gd name="adj" fmla="val 12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65608" y="2905125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2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867400" y="2762250"/>
            <a:ext cx="762000" cy="476250"/>
          </a:xfrm>
          <a:prstGeom prst="roundRect">
            <a:avLst>
              <a:gd name="adj" fmla="val 12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08358" y="2905125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3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867650" y="3286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15150" y="3286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62650" y="3286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81900" y="3524250"/>
            <a:ext cx="762000" cy="333375"/>
          </a:xfrm>
          <a:prstGeom prst="roundRect">
            <a:avLst>
              <a:gd name="adj" fmla="val 11429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622858" y="3600450"/>
            <a:ext cx="680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24650" y="3524250"/>
            <a:ext cx="762000" cy="333375"/>
          </a:xfrm>
          <a:prstGeom prst="roundRect">
            <a:avLst>
              <a:gd name="adj" fmla="val 11429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65608" y="3600450"/>
            <a:ext cx="680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867400" y="3524250"/>
            <a:ext cx="762000" cy="333375"/>
          </a:xfrm>
          <a:prstGeom prst="roundRect">
            <a:avLst>
              <a:gd name="adj" fmla="val 11429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908358" y="3600450"/>
            <a:ext cx="680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12293" y="39052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38900" y="40957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22720" y="41719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종합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</a:t>
            </a:r>
            <a:endParaRPr lang="en-US" sz="9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Agent 생성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.claude/agents/ 폴더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2857500"/>
          </a:xfrm>
          <a:prstGeom prst="roundRect">
            <a:avLst>
              <a:gd name="adj" fmla="val 4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.claude/agents/code-reviewer.md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6C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238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코드 리뷰 전문가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7146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Read, Grep, Glob, Bash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2952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model: </a:t>
            </a:r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sonnet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190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6C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34766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당신은 시니어 코드 리뷰어입니다.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2000" y="3714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코드 품질, 보안, 성능을 검토합니다.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2000" y="3952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76900" y="1619250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67400" y="1762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YAML Frontmatter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867400" y="2047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에이전트 이름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867400" y="2286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description: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설명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867400" y="25241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tools: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 가능 도구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867400" y="27622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model: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사용할 모델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676900" y="3143250"/>
            <a:ext cx="2857500" cy="1333500"/>
          </a:xfrm>
          <a:prstGeom prst="roundRect">
            <a:avLst>
              <a:gd name="adj" fmla="val 857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67400" y="3286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활용 팁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867400" y="3571875"/>
            <a:ext cx="25260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팀의 코딩 컨벤션, 리뷰 기준을 프롬프트에 포함하세요.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867400" y="404812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Git에 커밋하여 팀원과 공유!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9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체이닝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연결 사용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952500"/>
          </a:xfrm>
          <a:prstGeom prst="roundRect">
            <a:avLst>
              <a:gd name="adj" fmla="val 12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"먼저 코드 분석 에이전트로 문제점 찾고,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그 다음 최적화 에이전트로 수정해줘"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2762250"/>
            <a:ext cx="7905750" cy="17145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9051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실행 흐름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2500" y="3238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5375" y="3333750"/>
            <a:ext cx="1651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375" y="3524250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code-analyzer 실행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52750" y="340995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4250" y="3238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67125" y="3333750"/>
            <a:ext cx="1651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67125" y="3524250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→ optimizer 전달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24500" y="340995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96000" y="3238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38875" y="3333750"/>
            <a:ext cx="16516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8875" y="3524250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결과 반환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4700" y="40005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에이전트 간 자동 전달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76900" y="1619250"/>
            <a:ext cx="2857500" cy="952500"/>
          </a:xfrm>
          <a:prstGeom prst="roundRect">
            <a:avLst>
              <a:gd name="adj" fmla="val 12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67400" y="176212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🔗 체이닝 장점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867400" y="2047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복잡한 워크플로우 자동화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867400" y="2286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각 단계별 전문 에이전트 활용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</a:t>
            </a:r>
            <a:endParaRPr lang="en-US" sz="9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&amp; SUBAGENT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예시 - PPT Agent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Skill 조합 Agent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571625"/>
            <a:ext cx="7905750" cy="3048000"/>
          </a:xfrm>
          <a:prstGeom prst="roundRect">
            <a:avLst>
              <a:gd name="adj" fmla="val 37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7145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 Agent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209550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5375" y="217170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Research Skill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95375" y="23622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조사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571750" y="22669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52750" y="209550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95625" y="217170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Validation Skill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095625" y="23622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572000" y="22669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53000" y="209550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5875" y="217170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Structure Skill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95875" y="23622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설계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572250" y="22669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2500" y="2809875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5375" y="288607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Visual Skill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95375" y="3076575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생성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571750" y="29813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952750" y="2809875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95625" y="288607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Design System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095625" y="3076575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572000" y="29813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53000" y="2809875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95875" y="288607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Content Skill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095875" y="3076575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 작성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52500" y="34290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52500" y="352425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95375" y="360045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Review Skill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095375" y="379095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검토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571750" y="3695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952750" y="352425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095625" y="360045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Refinement Skill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095625" y="379095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반영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572000" y="3695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953000" y="3524250"/>
            <a:ext cx="1524000" cy="523875"/>
          </a:xfrm>
          <a:prstGeom prst="roundRect">
            <a:avLst>
              <a:gd name="adj" fmla="val 14545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95875" y="3600450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Export Skill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095875" y="379095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출력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6572250" y="3695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953250" y="352425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84695" y="36957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PPT 완성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</a:t>
            </a:r>
            <a:endParaRPr lang="en-US" sz="9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 Context Protocol로 무한 확장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🔌</a:t>
            </a:r>
            <a:endParaRPr lang="en-US" sz="5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개념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 Context Protocol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286250" cy="1238250"/>
          </a:xfrm>
          <a:prstGeom prst="roundRect">
            <a:avLst>
              <a:gd name="adj" fmla="val 923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09750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= AI가 외부 도구와 소통하는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" y="2095500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프로토콜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" y="24765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USB-C처럼 한 번 연결하면 모든 기능 사용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304800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3238500"/>
            <a:ext cx="16516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3571875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800350" y="304800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90850" y="3238500"/>
            <a:ext cx="16516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 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90850" y="3571875"/>
            <a:ext cx="165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구축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4095750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업계 표준으로 자리잡음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09600" y="4381500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다양한 도구와 즉시 연동 가능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200650" y="1619250"/>
            <a:ext cx="3333750" cy="3048000"/>
          </a:xfrm>
          <a:prstGeom prst="roundRect">
            <a:avLst>
              <a:gd name="adj" fmla="val 375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61623" y="180975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연결 구조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48400" y="2238375"/>
            <a:ext cx="114300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34125" y="238125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62650" y="29527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↙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280987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96150" y="29527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81650" y="319087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21655" y="328612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534150" y="319087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74155" y="328612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Jira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486650" y="319087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26655" y="328612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057900" y="376237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97905" y="385762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010400" y="3762375"/>
            <a:ext cx="857250" cy="381000"/>
          </a:xfrm>
          <a:prstGeom prst="roundRect">
            <a:avLst>
              <a:gd name="adj" fmla="val 15000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50405" y="385762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361623" y="4333875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프로토콜로 모든 도구 연결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9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설정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 연결하기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5238750" cy="2857500"/>
          </a:xfrm>
          <a:prstGeom prst="roundRect">
            <a:avLst>
              <a:gd name="adj" fmla="val 4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HTTP 서버 추가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 --transport http github \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62000" y="21907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https://api.githubcopilot.com/mcp/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62000" y="2524125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환경 변수와 함께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762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add --transport http stripe \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62000" y="29527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--header "Authorization: Bearer $STRIPE_KEY" \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2000" y="3143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https://mcp.stripe.com/mcp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62000" y="3524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목록 확인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000" y="3762375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list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62000" y="40957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서버 제거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4286250"/>
            <a:ext cx="5052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mcp remove github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867400" y="1619250"/>
            <a:ext cx="2667000" cy="1381125"/>
          </a:xfrm>
          <a:prstGeom prst="roundRect">
            <a:avLst>
              <a:gd name="adj" fmla="val 82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57900" y="1762125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주요 명령어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057900" y="2047875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add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서버 추가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057900" y="228600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list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목록 확인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057900" y="2524125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remove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서버 제거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057900" y="27622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--transport</a:t>
            </a:r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연결 방식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867400" y="3143250"/>
            <a:ext cx="2667000" cy="1333500"/>
          </a:xfrm>
          <a:prstGeom prst="roundRect">
            <a:avLst>
              <a:gd name="adj" fmla="val 857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57900" y="33337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Transport 타입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057900" y="361950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http:</a:t>
            </a:r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REST API 서버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057900" y="3857625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stdio:</a:t>
            </a:r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로컬 프로세스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057900" y="40957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sse:</a:t>
            </a:r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스트리밍 연결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9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MCP 서버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MCP 서버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790575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7621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333750" y="176212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095500"/>
            <a:ext cx="7905750" cy="4762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10588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363" y="20955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2238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333750" y="223837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이슈, PR, 코드 리뷰 자동화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2571750"/>
            <a:ext cx="79057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510588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363" y="25717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" y="27146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Atlassian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333750" y="271462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Jira, Confluence 연동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3048000"/>
            <a:ext cx="7905750" cy="4762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10588" y="30480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363" y="304800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00" y="31908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3333750" y="319087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자동화, E2E 테스트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9600" y="3524250"/>
            <a:ext cx="79057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10588" y="35242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363" y="3524250"/>
            <a:ext cx="0" cy="47625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36671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Context7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333750" y="366712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라이브러리 문서 조회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" y="4000500"/>
            <a:ext cx="7905750" cy="47625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2500" y="4143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/ Stripe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3333750" y="4143375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쿼리, 결제 API 연동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9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Context7 활용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문서 조회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1524000"/>
          </a:xfrm>
          <a:prstGeom prst="roundRect">
            <a:avLst>
              <a:gd name="adj" fmla="val 75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"React useEffect 공식 문서 찾아줘"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190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Claude: [Context7 MCP 사용]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2887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공식 React 문서에서 useEffect 패턴 조회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66700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최신 버전 기준 정확한 정보 제공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3337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61950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810000"/>
            <a:ext cx="2040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최신 문서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00100" y="409575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오래된 학습 데이터 대신 최신 공식 문서 사용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181350" y="361950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71850" y="3810000"/>
            <a:ext cx="2040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버전 정확성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371850" y="409575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버전별 정확한 API 정보 제공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676900" y="16192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67400" y="180975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활용 예시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67400" y="2190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"Next.js 14 App Router 패턴"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867400" y="25241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"TypeScript 5.0 새로운 기능"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867400" y="28575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"Tailwind CSS 최신 유틸리티"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867400" y="3190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"Prisma ORM 마이그레이션"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867400" y="3714750"/>
            <a:ext cx="2526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Claude의 학습 데이터가 오래되었을 때 특히 유용합니다. 최신 라이브러리 버전의 정확한 API를 확인할 수 있습니다.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97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활용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자동화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2095500"/>
          </a:xfrm>
          <a:prstGeom prst="roundRect">
            <a:avLst>
              <a:gd name="adj" fmla="val 5455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"로그인 플로우 E2E 테스트 만들어줘"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1431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Claude: [Playwright MCP 사용]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3812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브라우저 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61937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로그인 페이지 접속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85750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폼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3095625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검증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333750"/>
            <a:ext cx="4566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 스크린샷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39052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41910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E2E 테스트 자동 생성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90850" y="41910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스크린샷 비교 테스트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" y="44767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 버그 재현 및 수정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90850" y="44767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웹 스크래핑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76900" y="1619250"/>
            <a:ext cx="2857500" cy="2095500"/>
          </a:xfrm>
          <a:prstGeom prst="roundRect">
            <a:avLst>
              <a:gd name="adj" fmla="val 545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67400" y="180975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🎭 Playwright 강점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67400" y="2190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실제 브라우저 렌더링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67400" y="24765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크로스 브라우저 지원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67400" y="27622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모바일 에뮬레이션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67400" y="3048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네트워크 모킹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67400" y="3333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접근성 테스트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</a:t>
            </a:r>
            <a:endParaRPr lang="en-US" sz="97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통합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MCP 관리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전체 MCP 제어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7621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managed-mcp.json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238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"mcpServers":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"github": { "url": "..." },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7146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"jira": { "url": "..." 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2952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190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376237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사용자 수정 불가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09600" y="40481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🛡️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중앙 관리 보안 정책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09600" y="433387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pPr algn="l" indent="0" marL="0">
              <a:buNone/>
            </a:pPr>
            <a:r>
              <a:rPr lang="en-US" sz="1125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승인된 서버만 허용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676900" y="16192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67400" y="180975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엔터프라이즈 장점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67400" y="22383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일관된 환경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67400" y="2476500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팀원이 동일한 MCP 서버 설정 사용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67400" y="2952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강화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67400" y="319087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승인되지 않은 외부 서버 접근 차단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67400" y="36671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 관리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67400" y="3905250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팀에서 전사 정책 일괄 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</a:t>
            </a:r>
            <a:endParaRPr lang="en-US" sz="97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&amp;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143125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효율적인 Claude Code 활용법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5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탐색-계획-코딩-커밋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 #1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7905750" cy="1238250"/>
          </a:xfrm>
          <a:prstGeom prst="roundRect">
            <a:avLst>
              <a:gd name="adj" fmla="val 92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857375"/>
            <a:ext cx="1524000" cy="762000"/>
          </a:xfrm>
          <a:prstGeom prst="roundRect">
            <a:avLst>
              <a:gd name="adj" fmla="val 125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5375" y="2000250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탐색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5375" y="22860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분석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71750" y="2143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52750" y="1857375"/>
            <a:ext cx="1524000" cy="762000"/>
          </a:xfrm>
          <a:prstGeom prst="roundRect">
            <a:avLst>
              <a:gd name="adj" fmla="val 125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95625" y="2000250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계획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95625" y="22860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 hard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143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53000" y="1857375"/>
            <a:ext cx="1524000" cy="762000"/>
          </a:xfrm>
          <a:prstGeom prst="roundRect">
            <a:avLst>
              <a:gd name="adj" fmla="val 12500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95875" y="2000250"/>
            <a:ext cx="1263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코딩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95875" y="2286000"/>
            <a:ext cx="1263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72250" y="2143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53250" y="1857375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96125" y="2000250"/>
            <a:ext cx="106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커밋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96125" y="2286000"/>
            <a:ext cx="10687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3048000"/>
            <a:ext cx="3810000" cy="1571625"/>
          </a:xfrm>
          <a:prstGeom prst="roundRect">
            <a:avLst>
              <a:gd name="adj" fmla="val 7273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2000" y="31908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탐색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2000" y="34099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모듈 구조 분석해줘 (코딩 금지)"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62000" y="369570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계획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39147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"think hard로 구현 계획 세워줘"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62000" y="420052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3-4. 코딩 &amp; 커밋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2000" y="441960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"계획대로 구현하고 PR 만들어줘"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200650" y="3048000"/>
            <a:ext cx="3333750" cy="1571625"/>
          </a:xfrm>
          <a:prstGeom prst="roundRect">
            <a:avLst>
              <a:gd name="adj" fmla="val 727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91150" y="323850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왜 이 순서인가?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1150" y="3571875"/>
            <a:ext cx="3011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없이 바로 코딩하면 Claude가 잘못된 가정으로 코드를 작성할 수 있습니다.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391150" y="4048125"/>
            <a:ext cx="30118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단계에서 "think hard"를 사용하면 더 깊은 분석이 가능합니다.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</a:t>
            </a:r>
            <a:endParaRPr lang="en-US" sz="9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TDD 워크플로우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 #2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3810000" cy="28575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90500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5375" y="20002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테스트 작성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5375" y="21907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76500" y="207645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06C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62250" y="190500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5125" y="20002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실패 확인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05125" y="219075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2524125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62250" y="276225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05125" y="28575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구현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05125" y="30480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Green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76500" y="2933700"/>
            <a:ext cx="291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52500" y="2762250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5375" y="28575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리팩토링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375" y="30480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Refactor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16380" y="33813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4400" y="1619250"/>
            <a:ext cx="3810000" cy="2857500"/>
          </a:xfrm>
          <a:prstGeom prst="roundRect">
            <a:avLst>
              <a:gd name="adj" fmla="val 4000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900" y="180975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테스트 작성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4900" y="202882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기능의 테스트 먼저 작성해줘"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914900" y="236220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실패 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4900" y="258127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"테스트 실행해봐"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14900" y="291465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구현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4900" y="313372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"테스트 통과하도록 구현해줘"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914900" y="346710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리팩토링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4900" y="3686175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"코드 정리하고 테스트 다시 확인해줘"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914900" y="4095750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1A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 테스트 주도로 안전하게 코드를 작성합니다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</a:t>
            </a:r>
            <a:endParaRPr lang="en-US" sz="97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Claude 인스턴스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워크플로우 #3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47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작성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28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구현에 집중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1850" y="166687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4250" y="18097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4250" y="2047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검증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4250" y="2428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린트, 타입 체크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34100" y="1666875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0" y="18097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86500" y="2047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실행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86500" y="2428875"/>
            <a:ext cx="2331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유닛/통합 테스트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600" y="32385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Worktree 활용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3524250"/>
            <a:ext cx="4762500" cy="1095375"/>
          </a:xfrm>
          <a:prstGeom prst="roundRect">
            <a:avLst>
              <a:gd name="adj" fmla="val 10435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000" y="366712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별도 작업 디렉토리 생성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62000" y="39052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worktree add ../feature-auth feature/auth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62000" y="4143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../feature-auth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62000" y="4381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200650" y="3238500"/>
            <a:ext cx="3333750" cy="1381125"/>
          </a:xfrm>
          <a:prstGeom prst="roundRect">
            <a:avLst>
              <a:gd name="adj" fmla="val 827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91150" y="3429000"/>
            <a:ext cx="301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장점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391150" y="3762375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각 터미널이 독립적 컨텍스트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91150" y="4000500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병렬 작업으로 생산성 향상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391150" y="4238625"/>
            <a:ext cx="3011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브랜치별 격리된 작업 환경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</a:t>
            </a:r>
            <a:endParaRPr lang="en-US" sz="97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Subagent 전략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단축의 비밀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Sweet Spot: 2-4개 병렬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14312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최적의 성능과 비용 균형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619375"/>
            <a:ext cx="3810000" cy="1238250"/>
          </a:xfrm>
          <a:prstGeom prst="roundRect">
            <a:avLst>
              <a:gd name="adj" fmla="val 923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7622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3개 파일을 병렬로 분석해줘"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62000" y="309562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비교: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62000" y="33337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6C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순차: 30분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5718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병렬: 12분 (60% 단축) 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4000500"/>
            <a:ext cx="3810000" cy="666750"/>
          </a:xfrm>
          <a:prstGeom prst="roundRect">
            <a:avLst>
              <a:gd name="adj" fmla="val 11429"/>
            </a:avLst>
          </a:prstGeom>
          <a:solidFill>
            <a:srgbClr val="FE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41719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564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주의: 49개 병렬 → 비용 폭발 사례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440055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564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많은 병렬 처리는 비용 급증을 유발합니다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4900" y="1666875"/>
            <a:ext cx="3619500" cy="3000375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병렬 처리 효율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91400" y="22383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 (순차)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391400" y="2476500"/>
            <a:ext cx="952500" cy="238125"/>
          </a:xfrm>
          <a:prstGeom prst="roundRect">
            <a:avLst>
              <a:gd name="adj" fmla="val 16000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0" y="25050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91400" y="28098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병렬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724650" y="3048000"/>
            <a:ext cx="1619250" cy="238125"/>
          </a:xfrm>
          <a:prstGeom prst="roundRect">
            <a:avLst>
              <a:gd name="adj" fmla="val 16000"/>
            </a:avLst>
          </a:prstGeom>
          <a:solidFill>
            <a:srgbClr val="E5C0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10250" y="30765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91400" y="33813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3-4개 병렬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057900" y="3619500"/>
            <a:ext cx="2286000" cy="238125"/>
          </a:xfrm>
          <a:prstGeom prst="roundRect">
            <a:avLst>
              <a:gd name="adj" fmla="val 160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43500" y="36480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12분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91400" y="39528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10개+ 병렬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057900" y="4191000"/>
            <a:ext cx="2286000" cy="238125"/>
          </a:xfrm>
          <a:prstGeom prst="roundRect">
            <a:avLst>
              <a:gd name="adj" fmla="val 16000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43500" y="4219575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비용↑↑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</a:t>
            </a:r>
            <a:endParaRPr lang="en-US" sz="9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관리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200K 토큰 활용법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1238250"/>
          </a:xfrm>
          <a:prstGeom prst="roundRect">
            <a:avLst>
              <a:gd name="adj" fmla="val 923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5737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0750" y="1857375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사용량 확인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2190750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0750" y="2190750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컨텍스트 압축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524125"/>
            <a:ext cx="3594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/clear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0750" y="2524125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컨텍스트 초기화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0480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전략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3813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정기적으로 /compact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6671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완료된 작업 후 /clear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9528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중요 정보는 CLAUDE.md에 저장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" y="42386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대규모 작업은 Subagent 활용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4900" y="1666875"/>
            <a:ext cx="3619500" cy="2905125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컨텍스트 사용량 예시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91400" y="2286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0-50%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105400" y="2524125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24650" y="2524125"/>
            <a:ext cx="1619250" cy="190500"/>
          </a:xfrm>
          <a:prstGeom prst="roundRect">
            <a:avLst>
              <a:gd name="adj" fmla="val 200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19750" y="25431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자유롭게 사용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391400" y="28575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50-80%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105400" y="3095625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53100" y="3095625"/>
            <a:ext cx="2590800" cy="190500"/>
          </a:xfrm>
          <a:prstGeom prst="roundRect">
            <a:avLst>
              <a:gd name="adj" fmla="val 20000"/>
            </a:avLst>
          </a:prstGeom>
          <a:solidFill>
            <a:srgbClr val="E5C0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6000" y="31146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/compact 고려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391400" y="3429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80%+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105400" y="3667125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5900" y="3667125"/>
            <a:ext cx="3048000" cy="190500"/>
          </a:xfrm>
          <a:prstGeom prst="roundRect">
            <a:avLst>
              <a:gd name="adj" fmla="val 20000"/>
            </a:avLst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77000" y="3686175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/clear 또는 새 세션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05400" y="4048125"/>
            <a:ext cx="33032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Subagent는 별도 컨텍스트를 사용하므로 대용량 작업에 효과적입니다.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</a:t>
            </a:r>
            <a:endParaRPr lang="en-US" sz="97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최적화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효율적인 토큰 사용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810000" cy="19050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🔀 모델 믹싱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2190750"/>
            <a:ext cx="1238250" cy="476250"/>
          </a:xfrm>
          <a:prstGeom prst="roundRect">
            <a:avLst>
              <a:gd name="adj" fmla="val 160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5375" y="2286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Haiku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95375" y="247650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(저렴)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381250" y="2190750"/>
            <a:ext cx="1238250" cy="476250"/>
          </a:xfrm>
          <a:prstGeom prst="roundRect">
            <a:avLst>
              <a:gd name="adj" fmla="val 1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24125" y="228600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524125" y="247650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 (균형)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52500" y="2809875"/>
            <a:ext cx="2667000" cy="476250"/>
          </a:xfrm>
          <a:prstGeom prst="roundRect">
            <a:avLst>
              <a:gd name="adj" fmla="val 16000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03070" y="2905125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Opus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411605" y="3095625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설계 (고성능)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9600" y="3762375"/>
            <a:ext cx="381000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952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📁 파일 통신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00100" y="423862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데이터는 파일로 전달 → 컨텍스트 낭비 방지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14900" y="1666875"/>
            <a:ext cx="3619500" cy="2952750"/>
          </a:xfrm>
          <a:prstGeom prst="roundRect">
            <a:avLst>
              <a:gd name="adj" fmla="val 38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비용 절약 팁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105400" y="228600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탐색은 Haiku로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05400" y="2524125"/>
            <a:ext cx="3303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탐색, 단순 질문 시 저렴한 모델 사용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5400" y="295275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정기적 /compact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05400" y="3190875"/>
            <a:ext cx="3303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컨텍스트가 커지면 비용도 증가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05400" y="361950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Subagent 활용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05400" y="3857625"/>
            <a:ext cx="3303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대용량 작업은 분리하여 처리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05400" y="4286250"/>
            <a:ext cx="3303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/cost로 모니터링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</a:t>
            </a:r>
            <a:endParaRPr lang="en-US" sz="97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헤드리스 모드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 통합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4762500" cy="1333500"/>
          </a:xfrm>
          <a:prstGeom prst="roundRect">
            <a:avLst>
              <a:gd name="adj" fmla="val 8571"/>
            </a:avLst>
          </a:prstGeom>
          <a:solidFill>
            <a:srgbClr val="0F0F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자동화 스크립트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20478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"lint 오류 수정해줘" \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62000" y="22860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--output-format stream-json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62000" y="2619375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Pre-commit hook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2857500"/>
            <a:ext cx="456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8C3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-p "변경사항 검토해줘"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190875"/>
            <a:ext cx="4762500" cy="142875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381375"/>
            <a:ext cx="446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옵션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00100" y="37147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-p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프롬프트 직접 전달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9528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--output-format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출력 형식 (json, stream-json)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41910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--max-turns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최대 대화 턴 수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00100" y="4429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--allowedTools</a:t>
            </a:r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허용 도구 제한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676900" y="1666875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67400" y="1857375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 활용 사례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67400" y="2286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 파이프라인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67400" y="252412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머지 전 자동 코드 리뷰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67400" y="29527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Pre-commit Hook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67400" y="319087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전 코드 검증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67400" y="36195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작업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67400" y="3857625"/>
            <a:ext cx="25260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업데이트, 문서 생성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67400" y="43338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자동화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</a:t>
            </a:r>
            <a:endParaRPr lang="en-US" sz="97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피해야 할 것들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실수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390525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탐색 없이 바로 코딩 요청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2143125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 잘못된 가정으로 코드를 작성할 수 있습니다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667000"/>
            <a:ext cx="390525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857500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모호한 프롬프트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0100" y="3143250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"테스트 추가해" → 어떤 테스트? 어디에?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3667125"/>
            <a:ext cx="390525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3857625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과도한 CLAUDE.md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0100" y="4143375"/>
            <a:ext cx="35947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없이 무분별하게 규칙을 추가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14900" y="1666875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05400" y="185737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권한 스킵 남용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05400" y="2143125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--dangerously-skip-permissions 무분별 사용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667000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05400" y="2857500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컨텍스트 관리 미흡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05400" y="3143250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넘칠 때까지 /compact 안함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14900" y="3667125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05400" y="3857625"/>
            <a:ext cx="3303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대신 이렇게!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05400" y="4143375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→ 계획 → 구현 워크플로우 준수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</a:t>
            </a:r>
            <a:endParaRPr lang="en-US" sz="97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마스터 플랜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</a:t>
            </a:r>
            <a:endParaRPr lang="en-US" sz="5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로드맵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마스터 플랜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1905000" cy="1714500"/>
          </a:xfrm>
          <a:prstGeom prst="roundRect">
            <a:avLst>
              <a:gd name="adj" fmla="val 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097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20478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숙달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" y="24288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설치 및 기본 사용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0100" y="26670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핵심 커맨드 습득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0100" y="290512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첫 프로젝트 사용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9850" y="2381250"/>
            <a:ext cx="291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00350" y="1619250"/>
            <a:ext cx="1905000" cy="1714500"/>
          </a:xfrm>
          <a:prstGeom prst="roundRect">
            <a:avLst>
              <a:gd name="adj" fmla="val 6667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90850" y="18097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90850" y="20478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설정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90850" y="24288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CLAUDE.md 공동 작성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90850" y="26670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권한 설정 표준화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90850" y="290512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팀 컨벤션 정립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381250"/>
            <a:ext cx="291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91100" y="1619250"/>
            <a:ext cx="1905000" cy="1714500"/>
          </a:xfrm>
          <a:prstGeom prst="roundRect">
            <a:avLst>
              <a:gd name="adj" fmla="val 6667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81600" y="18097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81600" y="20478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 기능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81600" y="242887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Skills, Agents 구축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81600" y="26670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MCP 연동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81600" y="2905125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자동화 구축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1350" y="2381250"/>
            <a:ext cx="291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093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81850" y="1619250"/>
            <a:ext cx="1524000" cy="1714500"/>
          </a:xfrm>
          <a:prstGeom prst="roundRect">
            <a:avLst>
              <a:gd name="adj" fmla="val 7500"/>
            </a:avLst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72350" y="180975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72350" y="2047875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최적화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72350" y="242887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워크플로우 정립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72350" y="26670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비용 최적화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72350" y="2905125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효과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600" y="3524250"/>
            <a:ext cx="8096250" cy="1095375"/>
          </a:xfrm>
          <a:prstGeom prst="roundRect">
            <a:avLst>
              <a:gd name="adj" fmla="val 104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00100" y="3714750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핵심 포인트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0100" y="4048125"/>
            <a:ext cx="78695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점진적 도입: 개인 → 팀 → 조직 순서로 확장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0100" y="4286250"/>
            <a:ext cx="78695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정기 회고: 매주 효과적인 사용법 공유 및 개선점 논의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</a:t>
            </a:r>
            <a:endParaRPr lang="en-US" sz="97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1-3 체크리스트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3일 완료 목표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857375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" y="22383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Claude Code 설치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252412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첫 대화 시작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8098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/help, /cost 사용해보기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309562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기본 환경 구축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71850" y="1666875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62350" y="1857375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2350" y="22383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프로젝트에서 사용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2350" y="252412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간단한 작업 요청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2350" y="28098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권한 설정 이해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2350" y="309562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실무 적용 경험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4100" y="1666875"/>
            <a:ext cx="2571750" cy="1714500"/>
          </a:xfrm>
          <a:prstGeom prst="roundRect">
            <a:avLst>
              <a:gd name="adj" fmla="val 6667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24600" y="1857375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4600" y="22383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CLAUDE.md 작성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4600" y="252412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슬래시 커맨드 활용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4600" y="2809875"/>
            <a:ext cx="2234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팀원과 설정 공유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4600" y="3095625"/>
            <a:ext cx="22345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팀 협업 시작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9600" y="3571875"/>
            <a:ext cx="8096250" cy="1047750"/>
          </a:xfrm>
          <a:prstGeom prst="roundRect">
            <a:avLst>
              <a:gd name="adj" fmla="val 109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0100" y="3762375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첫 프롬프트 추천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" y="4095750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1: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 프로젝트 구조와 아키텍처 설명해줘"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0100" y="4362450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4B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2: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"README.md에 설치 방법 추가해줘"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</a:t>
            </a:r>
            <a:endParaRPr lang="en-US" sz="97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도입 가이드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5829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지표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측정할 것인가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7905750" cy="523875"/>
          </a:xfrm>
          <a:prstGeom prst="roundRect">
            <a:avLst>
              <a:gd name="adj" fmla="val 1454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18383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0" y="1838325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방법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190750"/>
            <a:ext cx="7905750" cy="52387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10588" y="219075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363" y="219075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23622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⏱️ 작업 완료 시간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810000" y="2362200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티켓 사이클 타임 비교 (Before/After)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2714625"/>
            <a:ext cx="79057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510588" y="271462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363" y="271462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" y="28860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코드 품질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810000" y="2886075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 코멘트 수, 버그 발생률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3238500"/>
            <a:ext cx="7905750" cy="52387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10588" y="323850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363" y="3238500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00" y="34099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🆕 온보딩 시간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3810000" y="3409950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팀원 첫 PR까지 소요 시간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9600" y="3762375"/>
            <a:ext cx="79057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10588" y="376237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363" y="3762375"/>
            <a:ext cx="0" cy="523875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39338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😊 팀원 만족도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810000" y="3933825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설문조사 (NPS)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" y="4286250"/>
            <a:ext cx="7905750" cy="523875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2500" y="44577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💰 비용 효율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3810000" y="4457700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토큰 사용량 대비 생산성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</a:t>
            </a:r>
            <a:endParaRPr lang="en-US" sz="97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582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667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 &amp; 다음 단계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0" y="1714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6070" y="2238375"/>
            <a:ext cx="11658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</a:t>
            </a:r>
            <a:endParaRPr lang="en-US" sz="5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핵심 테이크어웨이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기억할 것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66875"/>
            <a:ext cx="40005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7907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8250" y="1790700"/>
            <a:ext cx="3206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Coding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2047875"/>
            <a:ext cx="3206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자동완성이 아닌 자율 에이전트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2428875"/>
            <a:ext cx="40005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5527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8250" y="2552700"/>
            <a:ext cx="3206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8250" y="2809875"/>
            <a:ext cx="3206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지식을 코드로 자산화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190875"/>
            <a:ext cx="40005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3147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38250" y="3314700"/>
            <a:ext cx="3206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&amp; Agents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8250" y="3571875"/>
            <a:ext cx="3206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 자동화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533900" y="1666875"/>
            <a:ext cx="40005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38750" y="17907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200650" y="1790700"/>
            <a:ext cx="3206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00650" y="2047875"/>
            <a:ext cx="3206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도구와 무한 연결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533900" y="2428875"/>
            <a:ext cx="40005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38750" y="2552700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200650" y="2552700"/>
            <a:ext cx="3206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→ 계획 → 코딩 → 커밋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00650" y="2809875"/>
            <a:ext cx="3206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워크플로우의 기본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09600" y="4048125"/>
            <a:ext cx="7905750" cy="666750"/>
          </a:xfrm>
          <a:prstGeom prst="roundRect">
            <a:avLst>
              <a:gd name="adj" fmla="val 171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4853" y="4286250"/>
            <a:ext cx="7675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Code는 도구가 아니라 팀원입니다 🤝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69</a:t>
            </a:r>
            <a:endParaRPr lang="en-US" sz="97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6800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0F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할 수 있는 3가지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906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시작하기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714500"/>
            <a:ext cx="790575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5350" y="1905000"/>
            <a:ext cx="5829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24000" y="190500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24000" y="2143125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설치하고 "이 프로젝트 설명해줘"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2714625"/>
            <a:ext cx="7905750" cy="857250"/>
          </a:xfrm>
          <a:prstGeom prst="roundRect">
            <a:avLst>
              <a:gd name="adj" fmla="val 13333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5350" y="2905125"/>
            <a:ext cx="5829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24000" y="29051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24000" y="3143250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작성하고 Git 커밋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3714750"/>
            <a:ext cx="7905750" cy="857250"/>
          </a:xfrm>
          <a:prstGeom prst="roundRect">
            <a:avLst>
              <a:gd name="adj" fmla="val 13333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5350" y="3905250"/>
            <a:ext cx="5829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4000" y="390525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24000" y="4143375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커스텀 커맨드 만들기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7EEA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</a:t>
            </a:r>
            <a:endParaRPr lang="en-US" sz="97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543" y="1714500"/>
            <a:ext cx="806386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30543" y="2667000"/>
            <a:ext cx="80638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&amp; 답변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30543" y="3429000"/>
            <a:ext cx="8063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궁금한 점이 있으신가요?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14500" y="3905250"/>
            <a:ext cx="571500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05000" y="404812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docs.claude.com  ✓  🌐 mcpcat.io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905000" y="4286250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github.com/anthropics/claude-code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05000" y="45243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anthropic.com/engineering/claude-code-best-practices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Team Guide</dc:title>
  <dc:subject>PptxGenJS Presentation</dc:subject>
  <dc:creator>Development Team</dc:creator>
  <cp:lastModifiedBy>Development Team</cp:lastModifiedBy>
  <cp:revision>1</cp:revision>
  <dcterms:created xsi:type="dcterms:W3CDTF">2026-01-06T00:52:09Z</dcterms:created>
  <dcterms:modified xsi:type="dcterms:W3CDTF">2026-01-06T00:52:09Z</dcterms:modified>
</cp:coreProperties>
</file>