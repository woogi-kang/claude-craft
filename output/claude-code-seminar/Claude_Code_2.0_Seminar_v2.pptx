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1645920"/>
            <a:ext cx="79187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Claude Code 2.0</a:t>
            </a:r>
            <a:br/>
            <a:r>
              <a:t>완벽 활용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834640"/>
            <a:ext cx="7918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A0"/>
                </a:solidFill>
                <a:latin typeface="Arial"/>
              </a:defRPr>
            </a:pPr>
            <a:r>
              <a:t>AI 시대, 개발 생산성을 폭발시키는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4389120"/>
            <a:ext cx="7918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Arial"/>
              </a:defRPr>
            </a:pPr>
            <a:r>
              <a:t>Tech Team  |  2025.01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612648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7EE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2728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Why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4152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0A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7EE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783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Context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2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0A0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7EE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병렬 Sub-agents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0A0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7EEA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788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Skills &amp; 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0A0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7EEA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MCP 통합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0A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7EEA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3794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실전 &amp; 마인드셋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0A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7EEA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0A0A0"/>
                </a:solidFill>
                <a:latin typeface="Arial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3716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103120"/>
            <a:ext cx="7918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Why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926080"/>
            <a:ext cx="7918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AI 코딩 어시스턴트의 새로운 기준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365760"/>
            <a:ext cx="694944" cy="320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65760"/>
            <a:ext cx="694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1" y="365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A0A0"/>
                </a:solidFill>
                <a:latin typeface="Arial"/>
              </a:defRPr>
            </a:pPr>
            <a:r>
              <a:t>04/25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개발 속도 2-3배 향상의 비밀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39" y="1737360"/>
            <a:ext cx="2286000" cy="21945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39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  <a:latin typeface="Arial"/>
              </a:defRPr>
            </a:pPr>
            <a:r>
              <a:t>2-3x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39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  <a:latin typeface="Arial"/>
              </a:defRPr>
            </a:pPr>
            <a:r>
              <a:t>개발 속도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8999" y="1737360"/>
            <a:ext cx="2286000" cy="21945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8999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  <a:latin typeface="Arial"/>
              </a:defRPr>
            </a:pPr>
            <a:r>
              <a:t>200K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8999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  <a:latin typeface="Arial"/>
              </a:defRPr>
            </a:pPr>
            <a:r>
              <a:t>Context Window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59" y="1737360"/>
            <a:ext cx="2286000" cy="21945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59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  <a:latin typeface="Arial"/>
              </a:defRPr>
            </a:pPr>
            <a:r>
              <a:t>4.5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  <a:latin typeface="Arial"/>
              </a:defRPr>
            </a:pPr>
            <a:r>
              <a:t>Opus Version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3716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103120"/>
            <a:ext cx="7918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926080"/>
            <a:ext cx="7918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200K 토큰 공간을 효과적으로 관리하는 방법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365760"/>
            <a:ext cx="1133856" cy="320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65760"/>
            <a:ext cx="1133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1" y="365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A0A0"/>
                </a:solidFill>
                <a:latin typeface="Arial"/>
              </a:defRPr>
            </a:pPr>
            <a:r>
              <a:t>06/25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Context Window = 200K 토큰 공간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4592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시스템 프롬프트, 대화 이력, 파일 내용 등 포함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토큰 ≈ 단어의 3/4 (영어 기준)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한글은 토큰 소모가 더 큼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200K ≈ 소설 2-3권 분량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645920"/>
            <a:ext cx="3749039" cy="27432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7432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Arial"/>
              </a:defRPr>
            </a:pPr>
            <a:r>
              <a:t>[Visual]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365760"/>
            <a:ext cx="1133856" cy="320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65760"/>
            <a:ext cx="1133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1" y="365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A0A0"/>
                </a:solidFill>
                <a:latin typeface="Arial"/>
              </a:defRPr>
            </a:pPr>
            <a:r>
              <a:t>07/25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Context Rot - 성능 저하의 원인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45920"/>
            <a:ext cx="791870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Context가 80% 이상 차면 성능 급격히 저하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오래된 정보가 혼란을 유발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불필요한 파일 읽기로 공간 낭비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해결책: /compact 명령어로 정리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365760"/>
            <a:ext cx="1133856" cy="320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65760"/>
            <a:ext cx="1133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1" y="365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A0A0"/>
                </a:solidFill>
                <a:latin typeface="Arial"/>
              </a:defRPr>
            </a:pPr>
            <a:r>
              <a:t>08/25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Status Line으로 실시간 모니터링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554480"/>
            <a:ext cx="7918704" cy="292608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37360"/>
            <a:ext cx="75529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# .claude/settings.json</a:t>
            </a:r>
          </a:p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{</a:t>
            </a:r>
          </a:p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  "statusLineEnabled": true,</a:t>
            </a:r>
          </a:p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  "statusLineTemplate":</a:t>
            </a:r>
          </a:p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    "[{model}] Tokens: {tokens}/{max} ({percent}%)"</a:t>
            </a:r>
          </a:p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3716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103120"/>
            <a:ext cx="7918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병렬 Sub-agents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926080"/>
            <a:ext cx="7918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독립 Context의 분신들로 시간을 단축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365760"/>
            <a:ext cx="1024128" cy="320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65760"/>
            <a:ext cx="1024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1" y="365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A0A0"/>
                </a:solidFill>
                <a:latin typeface="Arial"/>
              </a:defRPr>
            </a:pPr>
            <a:r>
              <a:t>10/25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Sub-agent = 독립 Context의 분신들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4592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메인 Agent와 별도의 Context 유지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병렬 실행으로 작업 시간 단축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각자 다른 파일/작업 동시 처리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결과만 메인 Agent로 전달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645920"/>
            <a:ext cx="3749039" cy="27432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7432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Arial"/>
              </a:defRPr>
            </a:pPr>
            <a:r>
              <a:t>[Visual]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365760"/>
            <a:ext cx="1024128" cy="320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65760"/>
            <a:ext cx="1024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1" y="365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A0A0"/>
                </a:solidFill>
                <a:latin typeface="Arial"/>
              </a:defRPr>
            </a:pPr>
            <a:r>
              <a:t>11/25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순차 vs 병렬: 시간 62% 단축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45920"/>
            <a:ext cx="3657600" cy="3657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1945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파일 1 분석 → 완료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파일 2 분석 → 완료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파일 3 분석 → 완료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총 소요시간: 30분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0F0F"/>
                </a:solidFill>
                <a:latin typeface="Arial"/>
              </a:defRPr>
            </a:pPr>
            <a: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945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파일 1, 2, 3 동시 분석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결과 통합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총 소요시간: 12분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62% 시간 절약!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365760"/>
            <a:ext cx="1024128" cy="320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65760"/>
            <a:ext cx="1024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1" y="365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A0A0"/>
                </a:solidFill>
                <a:latin typeface="Arial"/>
              </a:defRPr>
            </a:pPr>
            <a:r>
              <a:t>12/25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비용 폭발 주의! 49개 병렬의 교훈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45920"/>
            <a:ext cx="791870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병렬 Agent 수 = 비용 배수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권장: 2-4개가 Sweet Spot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5개 이상은 수익 체감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모델 믹싱으로 비용 최적화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365760"/>
            <a:ext cx="1024128" cy="320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65760"/>
            <a:ext cx="1024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1" y="365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A0A0"/>
                </a:solidFill>
                <a:latin typeface="Arial"/>
              </a:defRPr>
            </a:pPr>
            <a:r>
              <a:t>13/25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실전 프롬프트 패턴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554480"/>
            <a:ext cx="7918704" cy="292608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37360"/>
            <a:ext cx="75529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# 병렬 분석 요청</a:t>
            </a:r>
          </a:p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"다음 3개 파일을 병렬로 분석해줘:</a:t>
            </a:r>
          </a:p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- src/auth.ts</a:t>
            </a:r>
          </a:p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- src/api.ts</a:t>
            </a:r>
          </a:p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- src/db.ts</a:t>
            </a:r>
          </a:p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각각 보안 취약점을 찾아줘"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3716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103120"/>
            <a:ext cx="7918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Skills &amp;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926080"/>
            <a:ext cx="7918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개인 노하우를 팀 자산으로 변환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365760"/>
            <a:ext cx="1024128" cy="320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65760"/>
            <a:ext cx="1024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1" y="365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A0A0"/>
                </a:solidFill>
                <a:latin typeface="Arial"/>
              </a:defRPr>
            </a:pPr>
            <a:r>
              <a:t>15/25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Skills = 재사용 가능한 지식 모듈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4592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SKILL.md 파일에 워크플로우 정의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.claude/skills/ 폴더에 저장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Git으로 팀 공유 가능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복잡한 작업을 명령어 하나로!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645920"/>
            <a:ext cx="3749039" cy="27432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7432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Arial"/>
              </a:defRPr>
            </a:pPr>
            <a:r>
              <a:t>[Visual]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365760"/>
            <a:ext cx="1024128" cy="320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65760"/>
            <a:ext cx="1024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1" y="365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A0A0"/>
                </a:solidFill>
                <a:latin typeface="Arial"/>
              </a:defRPr>
            </a:pPr>
            <a:r>
              <a:t>16/25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SKILL.md 작성 예시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554480"/>
            <a:ext cx="7918704" cy="292608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37360"/>
            <a:ext cx="75529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---</a:t>
            </a:r>
          </a:p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name: code-review</a:t>
            </a:r>
          </a:p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description: 코드 리뷰 자동화</a:t>
            </a:r>
          </a:p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---</a:t>
            </a:r>
          </a:p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# Code Review Skill</a:t>
            </a:r>
          </a:p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1. 파일 변경사항 분석</a:t>
            </a:r>
          </a:p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2. 코딩 컨벤션 체크</a:t>
            </a:r>
          </a:p>
          <a:p>
            <a:pPr>
              <a:spcAft>
                <a:spcPts val="400"/>
              </a:spcAft>
              <a:defRPr sz="1400">
                <a:solidFill>
                  <a:srgbClr val="4ECDC4"/>
                </a:solidFill>
                <a:latin typeface="Courier New"/>
              </a:defRPr>
            </a:pPr>
            <a:r>
              <a:t>3. 보안 취약점 스캔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365760"/>
            <a:ext cx="1024128" cy="320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65760"/>
            <a:ext cx="1024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1" y="365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A0A0"/>
                </a:solidFill>
                <a:latin typeface="Arial"/>
              </a:defRPr>
            </a:pPr>
            <a:r>
              <a:t>17/25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Custom Commands로 워크플로우 자동화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45920"/>
            <a:ext cx="791870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/feature - 새 기능 개발 시작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/review - 코드 리뷰 실행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/test - 테스트 작성 및 실행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/deploy - 배포 프로세스 시작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3716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103120"/>
            <a:ext cx="7918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MCP 통합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926080"/>
            <a:ext cx="7918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AI의 USB-C 포트 - 무한 확장 가능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365760"/>
            <a:ext cx="694944" cy="320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65760"/>
            <a:ext cx="694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1" y="365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A0A0"/>
                </a:solidFill>
                <a:latin typeface="Arial"/>
              </a:defRPr>
            </a:pPr>
            <a:r>
              <a:t>19/25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MCP = Model Context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4592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AI와 외부 시스템 연결 표준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데이터베이스, API, 파일시스템 등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플러그인처럼 기능 확장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한 번 설정, 계속 사용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645920"/>
            <a:ext cx="3749039" cy="27432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7432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0"/>
                </a:solidFill>
                <a:latin typeface="Arial"/>
              </a:defRPr>
            </a:pPr>
            <a:r>
              <a:t>[Visual]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365760"/>
            <a:ext cx="694944" cy="320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65760"/>
            <a:ext cx="694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1" y="365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A0A0"/>
                </a:solidFill>
                <a:latin typeface="Arial"/>
              </a:defRPr>
            </a:pPr>
            <a:r>
              <a:t>20/25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4대 MCP 서버 활용법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-548639" y="1737360"/>
            <a:ext cx="2286000" cy="21945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548639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  <a:latin typeface="Arial"/>
              </a:defRPr>
            </a:pPr>
            <a:r>
              <a:t>Context7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548639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  <a:latin typeface="Arial"/>
              </a:defRPr>
            </a:pPr>
            <a:r>
              <a:t>문서 검색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737360"/>
            <a:ext cx="2286000" cy="21945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  <a:latin typeface="Arial"/>
              </a:defRPr>
            </a:pPr>
            <a:r>
              <a:t>Playwright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  <a:latin typeface="Arial"/>
              </a:defRPr>
            </a:pPr>
            <a:r>
              <a:t>브라우저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737360"/>
            <a:ext cx="2286000" cy="21945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  <a:latin typeface="Arial"/>
              </a:defRPr>
            </a:pPr>
            <a:r>
              <a:t>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  <a:latin typeface="Arial"/>
              </a:defRPr>
            </a:pPr>
            <a:r>
              <a:t>데이터베이스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737360"/>
            <a:ext cx="2286000" cy="21945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  <a:latin typeface="Arial"/>
              </a:defRPr>
            </a:pPr>
            <a:r>
              <a:t>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  <a:latin typeface="Arial"/>
              </a:defRPr>
            </a:pPr>
            <a:r>
              <a:t>외부 연동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3716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103120"/>
            <a:ext cx="7918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실전 &amp; 마인드셋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926080"/>
            <a:ext cx="7918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AI-Native 개발자로 성장하기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365760"/>
            <a:ext cx="1133856" cy="320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65760"/>
            <a:ext cx="1133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1" y="365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A0A0"/>
                </a:solidFill>
                <a:latin typeface="Arial"/>
              </a:defRPr>
            </a:pPr>
            <a:r>
              <a:t>22/25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새 기능 개발 A to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45920"/>
            <a:ext cx="791870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1. 요구사항 정리 (프롬프트 작성)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2. 설계 리뷰 (AI와 토론)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3. 코드 생성 (병렬 작업)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4. 테스트 &amp; 리팩토링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5. 코드 리뷰 &amp; 배포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365760"/>
            <a:ext cx="1133856" cy="320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65760"/>
            <a:ext cx="1133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1" y="365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A0A0"/>
                </a:solidFill>
                <a:latin typeface="Arial"/>
              </a:defRPr>
            </a:pPr>
            <a:r>
              <a:t>23/25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구현 → 설계에 시간 투자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45920"/>
            <a:ext cx="3657600" cy="3657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1945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구현 70%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설계 15%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테스트 15%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야근이 일상...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0F0F"/>
                </a:solidFill>
                <a:latin typeface="Arial"/>
              </a:defRPr>
            </a:pPr>
            <a: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945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설계 50%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구현 20%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검증 30%</a:t>
            </a:r>
          </a:p>
          <a:p>
            <a:pPr>
              <a:spcAft>
                <a:spcPts val="1200"/>
              </a:spcAft>
              <a:defRPr sz="1600">
                <a:solidFill>
                  <a:srgbClr val="A0A0A0"/>
                </a:solidFill>
                <a:latin typeface="Arial"/>
              </a:defRPr>
            </a:pPr>
            <a:r>
              <a:t>• 워라밸 확보!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365760"/>
            <a:ext cx="1024128" cy="3200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65760"/>
            <a:ext cx="1024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831" y="365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0A0A0"/>
                </a:solidFill>
                <a:latin typeface="Arial"/>
              </a:defRPr>
            </a:pPr>
            <a:r>
              <a:t>24/25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1440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내일부터 바로 할 수 있는 3가지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45920"/>
            <a:ext cx="7918704" cy="8229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7EE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1874519"/>
            <a:ext cx="6729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Day 1: Status Line 설정하고 Context 모니터링 시작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606040"/>
            <a:ext cx="7918704" cy="8229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7EE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2834640"/>
            <a:ext cx="6729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Day 2: 반복 작업을 Skill로 만들어보기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" y="3566160"/>
            <a:ext cx="7918704" cy="8229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7EE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3794760"/>
            <a:ext cx="6729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Day 3: 병렬 Agent로 코드 리뷰 자동화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828800"/>
            <a:ext cx="7918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651760"/>
            <a:ext cx="7918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840480"/>
            <a:ext cx="7918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AI가 코드를 짜는 시대,</a:t>
            </a:r>
            <a:br/>
            <a:r>
              <a:t>우리는 더 나은 설계자가 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