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9115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0F6FC"/>
                </a:solidFill>
                <a:latin typeface="Arial"/>
              </a:defRPr>
            </a:pPr>
            <a:r>
              <a:t>Claude Code 2.0</a:t>
            </a:r>
            <a:br/>
            <a:r>
              <a:t>완벽 활용 가이드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566160"/>
            <a:ext cx="4876495" cy="1828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749039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8B949E"/>
                </a:solidFill>
                <a:latin typeface="Arial"/>
              </a:defRPr>
            </a:pPr>
            <a:r>
              <a:t>AI 시대, 개발 생산성을 극대화하는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E7681"/>
                </a:solidFill>
                <a:latin typeface="Arial"/>
              </a:defRPr>
            </a:pPr>
            <a:r>
              <a:t>Tech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94015" y="5943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E7681"/>
                </a:solidFill>
                <a:latin typeface="Arial"/>
              </a:defRPr>
            </a:pPr>
            <a:r>
              <a:t>2025.01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0F6FC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828800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58A6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0F6FC"/>
                </a:solidFill>
                <a:latin typeface="Arial"/>
              </a:defRPr>
            </a:pPr>
            <a:r>
              <a:t>Why Claude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6E7681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58A6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0F6FC"/>
                </a:solidFill>
                <a:latin typeface="Arial"/>
              </a:defRPr>
            </a:pPr>
            <a:r>
              <a:t>Context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2194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6E7681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58A6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43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0F6FC"/>
                </a:solidFill>
                <a:latin typeface="Arial"/>
              </a:defRPr>
            </a:pPr>
            <a:r>
              <a:t>병렬 Sub-agents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2743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6E7681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9183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58A6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29183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0F6FC"/>
                </a:solidFill>
                <a:latin typeface="Arial"/>
              </a:defRPr>
            </a:pPr>
            <a:r>
              <a:t>Skills &amp; Commands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329183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6E7681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840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58A6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0F6FC"/>
                </a:solidFill>
                <a:latin typeface="Arial"/>
              </a:defRPr>
            </a:pPr>
            <a:r>
              <a:t>MCP 통합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3840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6E7681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389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58A6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389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0F6FC"/>
                </a:solidFill>
                <a:latin typeface="Arial"/>
              </a:defRPr>
            </a:pPr>
            <a:r>
              <a:t>실전 &amp; 마인드셋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4389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6E7681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93775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58A6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93775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0F6FC"/>
                </a:solidFill>
                <a:latin typeface="Arial"/>
              </a:defRPr>
            </a:pPr>
            <a:r>
              <a:t>Closing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493775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6E7681"/>
                </a:solidFill>
                <a:latin typeface="Arial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8A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 i="0">
                <a:solidFill>
                  <a:srgbClr val="F0F6FC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10896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0F6FC"/>
                </a:solidFill>
                <a:latin typeface="Arial"/>
              </a:defRPr>
            </a:pPr>
            <a:r>
              <a:t>Why Claude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D1117"/>
                </a:solidFill>
                <a:latin typeface="Arial"/>
              </a:defRPr>
            </a:pPr>
            <a:r>
              <a:t>AI 코딩 어시스턴트의 새로운 기준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463040" cy="3200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0F6FC"/>
                </a:solidFill>
                <a:latin typeface="Arial"/>
              </a:defRPr>
            </a:pPr>
            <a:r>
              <a:t>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457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E7681"/>
                </a:solidFill>
                <a:latin typeface="Arial"/>
              </a:defRPr>
            </a:pPr>
            <a:r>
              <a:t>04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0F6FC"/>
                </a:solidFill>
                <a:latin typeface="Arial"/>
              </a:defRPr>
            </a:pPr>
            <a:r>
              <a:t>개발 속도 2-3배 향상의 비밀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207" y="2103120"/>
            <a:ext cx="3108960" cy="256032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5207" y="25603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3FB950"/>
                </a:solidFill>
                <a:latin typeface="Arial"/>
              </a:defRPr>
            </a:pPr>
            <a:r>
              <a:t>2-3x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207" y="3931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B949E"/>
                </a:solidFill>
                <a:latin typeface="Arial"/>
              </a:defRPr>
            </a:pPr>
            <a:r>
              <a:t>개발 속도</a:t>
            </a:r>
          </a:p>
        </p:txBody>
      </p:sp>
      <p:sp>
        <p:nvSpPr>
          <p:cNvPr id="9" name="Rectangle 8"/>
          <p:cNvSpPr/>
          <p:nvPr/>
        </p:nvSpPr>
        <p:spPr>
          <a:xfrm>
            <a:off x="4541367" y="2103120"/>
            <a:ext cx="3108960" cy="256032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1367" y="25603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3FB950"/>
                </a:solidFill>
                <a:latin typeface="Arial"/>
              </a:defRPr>
            </a:pPr>
            <a:r>
              <a:t>200K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1367" y="3931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B949E"/>
                </a:solidFill>
                <a:latin typeface="Arial"/>
              </a:defRPr>
            </a:pPr>
            <a:r>
              <a:t>Context Window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07527" y="2103120"/>
            <a:ext cx="3108960" cy="256032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07527" y="25603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3FB950"/>
                </a:solidFill>
                <a:latin typeface="Arial"/>
              </a:defRPr>
            </a:pPr>
            <a:r>
              <a:t>Opus 4.5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7527" y="3931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B949E"/>
                </a:solidFill>
                <a:latin typeface="Arial"/>
              </a:defRPr>
            </a:pPr>
            <a:r>
              <a:t>최신 모델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8A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 i="0">
                <a:solidFill>
                  <a:srgbClr val="F0F6FC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10896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0F6FC"/>
                </a:solidFill>
                <a:latin typeface="Arial"/>
              </a:defRPr>
            </a:pPr>
            <a:r>
              <a:t>Context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D1117"/>
                </a:solidFill>
                <a:latin typeface="Arial"/>
              </a:defRPr>
            </a:pPr>
            <a:r>
              <a:t>200K 토큰 공간을 효과적으로 관리하는 방법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463040" cy="3200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0F6FC"/>
                </a:solidFill>
                <a:latin typeface="Arial"/>
              </a:defRPr>
            </a:pPr>
            <a: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457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E7681"/>
                </a:solidFill>
                <a:latin typeface="Arial"/>
              </a:defRPr>
            </a:pPr>
            <a:r>
              <a:t>06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0F6FC"/>
                </a:solidFill>
                <a:latin typeface="Arial"/>
              </a:defRPr>
            </a:pPr>
            <a:r>
              <a:t>Context Window = 200K 토큰 공간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8B949E"/>
                </a:solidFill>
                <a:latin typeface="Arial"/>
              </a:defRPr>
            </a:pPr>
            <a:r>
              <a:t>•  시스템 프롬프트 + 대화 이력 + 파일 내용</a:t>
            </a:r>
          </a:p>
          <a:p>
            <a:pPr>
              <a:spcAft>
                <a:spcPts val="1400"/>
              </a:spcAft>
              <a:defRPr sz="1600">
                <a:solidFill>
                  <a:srgbClr val="8B949E"/>
                </a:solidFill>
                <a:latin typeface="Arial"/>
              </a:defRPr>
            </a:pPr>
            <a:r>
              <a:t>•  토큰 ≈ 단어의 3/4 (영어 기준)</a:t>
            </a:r>
          </a:p>
          <a:p>
            <a:pPr>
              <a:spcAft>
                <a:spcPts val="1400"/>
              </a:spcAft>
              <a:defRPr sz="1600">
                <a:solidFill>
                  <a:srgbClr val="8B949E"/>
                </a:solidFill>
                <a:latin typeface="Arial"/>
              </a:defRPr>
            </a:pPr>
            <a:r>
              <a:t>•  한글은 토큰 소모가 더 큼</a:t>
            </a:r>
          </a:p>
          <a:p>
            <a:pPr>
              <a:spcAft>
                <a:spcPts val="1400"/>
              </a:spcAft>
              <a:defRPr sz="1600">
                <a:solidFill>
                  <a:srgbClr val="8B949E"/>
                </a:solidFill>
                <a:latin typeface="Arial"/>
              </a:defRPr>
            </a:pPr>
            <a:r>
              <a:t>•  200K ≈ 소설 2-3권 분량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0" y="1920240"/>
            <a:ext cx="5699455" cy="32004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3291839"/>
            <a:ext cx="56994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6E7681"/>
                </a:solidFill>
                <a:latin typeface="Arial"/>
              </a:defRPr>
            </a:pPr>
            <a:r>
              <a:t>[ Diagram / Visual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463040" cy="3200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0F6FC"/>
                </a:solidFill>
                <a:latin typeface="Arial"/>
              </a:defRPr>
            </a:pPr>
            <a: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457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E7681"/>
                </a:solidFill>
                <a:latin typeface="Arial"/>
              </a:defRPr>
            </a:pPr>
            <a:r>
              <a:t>07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0F6FC"/>
                </a:solidFill>
                <a:latin typeface="Arial"/>
              </a:defRPr>
            </a:pPr>
            <a:r>
              <a:t>Context Rot - 성능 저하의 원인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1153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8B949E"/>
                </a:solidFill>
                <a:latin typeface="Arial"/>
              </a:defRPr>
            </a:pPr>
            <a:r>
              <a:t>•  Context가 80% 이상 차면 성능 급격히 저하</a:t>
            </a:r>
          </a:p>
          <a:p>
            <a:pPr>
              <a:spcAft>
                <a:spcPts val="1400"/>
              </a:spcAft>
              <a:defRPr sz="1600">
                <a:solidFill>
                  <a:srgbClr val="8B949E"/>
                </a:solidFill>
                <a:latin typeface="Arial"/>
              </a:defRPr>
            </a:pPr>
            <a:r>
              <a:t>•  오래된 정보가 최신 정보와 혼란 유발</a:t>
            </a:r>
          </a:p>
          <a:p>
            <a:pPr>
              <a:spcAft>
                <a:spcPts val="1400"/>
              </a:spcAft>
              <a:defRPr sz="1600">
                <a:solidFill>
                  <a:srgbClr val="8B949E"/>
                </a:solidFill>
                <a:latin typeface="Arial"/>
              </a:defRPr>
            </a:pPr>
            <a:r>
              <a:t>•  불필요한 파일 읽기로 공간 낭비</a:t>
            </a:r>
          </a:p>
          <a:p>
            <a:pPr>
              <a:spcAft>
                <a:spcPts val="1400"/>
              </a:spcAft>
              <a:defRPr sz="1600">
                <a:solidFill>
                  <a:srgbClr val="8B949E"/>
                </a:solidFill>
                <a:latin typeface="Arial"/>
              </a:defRPr>
            </a:pPr>
            <a:r>
              <a:t>•  해결책: /compact 명령어로 정리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463040" cy="3200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0F6FC"/>
                </a:solidFill>
                <a:latin typeface="Arial"/>
              </a:defRPr>
            </a:pPr>
            <a: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457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E7681"/>
                </a:solidFill>
                <a:latin typeface="Arial"/>
              </a:defRPr>
            </a:pPr>
            <a:r>
              <a:t>08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0F6FC"/>
                </a:solidFill>
                <a:latin typeface="Arial"/>
              </a:defRPr>
            </a:pPr>
            <a:r>
              <a:t>Status Line으로 실시간 모니터링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10911535" cy="347472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362895" cy="292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FB950"/>
                </a:solidFill>
                <a:latin typeface="Consolas"/>
              </a:defRPr>
            </a:pPr>
            <a:r>
              <a:t># .claude/settings.json</a:t>
            </a:r>
          </a:p>
          <a:p>
            <a:pPr>
              <a:spcAft>
                <a:spcPts val="600"/>
              </a:spcAft>
              <a:defRPr sz="1400">
                <a:solidFill>
                  <a:srgbClr val="3FB950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600"/>
              </a:spcAft>
              <a:defRPr sz="1400">
                <a:solidFill>
                  <a:srgbClr val="3FB950"/>
                </a:solidFill>
                <a:latin typeface="Consolas"/>
              </a:defRPr>
            </a:pPr>
            <a:r>
              <a:t>  "statusLineEnabled": true,</a:t>
            </a:r>
          </a:p>
          <a:p>
            <a:pPr>
              <a:spcAft>
                <a:spcPts val="600"/>
              </a:spcAft>
              <a:defRPr sz="1400">
                <a:solidFill>
                  <a:srgbClr val="3FB950"/>
                </a:solidFill>
                <a:latin typeface="Consolas"/>
              </a:defRPr>
            </a:pPr>
            <a:r>
              <a:t>  "statusLineTemplate":</a:t>
            </a:r>
          </a:p>
          <a:p>
            <a:pPr>
              <a:spcAft>
                <a:spcPts val="600"/>
              </a:spcAft>
              <a:defRPr sz="1400">
                <a:solidFill>
                  <a:srgbClr val="3FB950"/>
                </a:solidFill>
                <a:latin typeface="Consolas"/>
              </a:defRPr>
            </a:pPr>
            <a:r>
              <a:t>    "[{model}] {tokens}/{max} ({percent}%)"</a:t>
            </a:r>
          </a:p>
          <a:p>
            <a:pPr>
              <a:spcAft>
                <a:spcPts val="600"/>
              </a:spcAft>
              <a:defRPr sz="1400">
                <a:solidFill>
                  <a:srgbClr val="3FB950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8A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 i="0">
                <a:solidFill>
                  <a:srgbClr val="F0F6FC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10896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0F6FC"/>
                </a:solidFill>
                <a:latin typeface="Arial"/>
              </a:defRPr>
            </a:pPr>
            <a:r>
              <a:t>병렬 Sub-agents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D1117"/>
                </a:solidFill>
                <a:latin typeface="Arial"/>
              </a:defRPr>
            </a:pPr>
            <a:r>
              <a:t>독립 Context의 분신들로 시간 단축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463040" cy="3200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0F6FC"/>
                </a:solidFill>
                <a:latin typeface="Arial"/>
              </a:defRPr>
            </a:pPr>
            <a:r>
              <a:t>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457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E7681"/>
                </a:solidFill>
                <a:latin typeface="Arial"/>
              </a:defRPr>
            </a:pPr>
            <a:r>
              <a:t>10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0F6FC"/>
                </a:solidFill>
                <a:latin typeface="Arial"/>
              </a:defRPr>
            </a:pPr>
            <a:r>
              <a:t>Sub-agent = 독립 Context의 분신들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8B949E"/>
                </a:solidFill>
                <a:latin typeface="Arial"/>
              </a:defRPr>
            </a:pPr>
            <a:r>
              <a:t>•  메인 Agent와 별도의 Context 유지</a:t>
            </a:r>
          </a:p>
          <a:p>
            <a:pPr>
              <a:spcAft>
                <a:spcPts val="1400"/>
              </a:spcAft>
              <a:defRPr sz="1600">
                <a:solidFill>
                  <a:srgbClr val="8B949E"/>
                </a:solidFill>
                <a:latin typeface="Arial"/>
              </a:defRPr>
            </a:pPr>
            <a:r>
              <a:t>•  병렬 실행으로 작업 시간 단축</a:t>
            </a:r>
          </a:p>
          <a:p>
            <a:pPr>
              <a:spcAft>
                <a:spcPts val="1400"/>
              </a:spcAft>
              <a:defRPr sz="1600">
                <a:solidFill>
                  <a:srgbClr val="8B949E"/>
                </a:solidFill>
                <a:latin typeface="Arial"/>
              </a:defRPr>
            </a:pPr>
            <a:r>
              <a:t>•  각자 다른 파일/작업 동시 처리</a:t>
            </a:r>
          </a:p>
          <a:p>
            <a:pPr>
              <a:spcAft>
                <a:spcPts val="1400"/>
              </a:spcAft>
              <a:defRPr sz="1600">
                <a:solidFill>
                  <a:srgbClr val="8B949E"/>
                </a:solidFill>
                <a:latin typeface="Arial"/>
              </a:defRPr>
            </a:pPr>
            <a:r>
              <a:t>•  결과만 메인 Agent로 전달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0" y="1920240"/>
            <a:ext cx="5699455" cy="32004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3291839"/>
            <a:ext cx="56994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6E7681"/>
                </a:solidFill>
                <a:latin typeface="Arial"/>
              </a:defRPr>
            </a:pPr>
            <a:r>
              <a:t>[ Diagram / Visual 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463040" cy="3200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0F6FC"/>
                </a:solidFill>
                <a:latin typeface="Arial"/>
              </a:defRPr>
            </a:pPr>
            <a:r>
              <a:t>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457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E7681"/>
                </a:solidFill>
                <a:latin typeface="Arial"/>
              </a:defRPr>
            </a:pPr>
            <a:r>
              <a:t>11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0F6FC"/>
                </a:solidFill>
                <a:latin typeface="Arial"/>
              </a:defRPr>
            </a:pPr>
            <a:r>
              <a:t>순차 vs 병렬: 시간 62% 단축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5120640" cy="41148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0F6FC"/>
                </a:solidFill>
                <a:latin typeface="Arial"/>
              </a:defRPr>
            </a:pPr>
            <a: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06040"/>
            <a:ext cx="4754879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8B949E"/>
                </a:solidFill>
                <a:latin typeface="Arial"/>
              </a:defRPr>
            </a:pPr>
            <a:r>
              <a:t>•  파일 1 분석 → 완료</a:t>
            </a:r>
          </a:p>
          <a:p>
            <a:pPr>
              <a:spcAft>
                <a:spcPts val="1400"/>
              </a:spcAft>
              <a:defRPr sz="1600">
                <a:solidFill>
                  <a:srgbClr val="8B949E"/>
                </a:solidFill>
                <a:latin typeface="Arial"/>
              </a:defRPr>
            </a:pPr>
            <a:r>
              <a:t>•  파일 2 분석 → 완료</a:t>
            </a:r>
          </a:p>
          <a:p>
            <a:pPr>
              <a:spcAft>
                <a:spcPts val="1400"/>
              </a:spcAft>
              <a:defRPr sz="1600">
                <a:solidFill>
                  <a:srgbClr val="8B949E"/>
                </a:solidFill>
                <a:latin typeface="Arial"/>
              </a:defRPr>
            </a:pPr>
            <a:r>
              <a:t>•  파일 3 분석 → 완료</a:t>
            </a:r>
          </a:p>
          <a:p>
            <a:pPr>
              <a:spcAft>
                <a:spcPts val="1400"/>
              </a:spcAft>
              <a:defRPr sz="1600">
                <a:solidFill>
                  <a:srgbClr val="8B949E"/>
                </a:solidFill>
                <a:latin typeface="Arial"/>
              </a:defRPr>
            </a:pPr>
            <a:r>
              <a:t>•  총 소요시간: 30분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920240"/>
            <a:ext cx="5120640" cy="41148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9202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0D1117"/>
                </a:solidFill>
                <a:latin typeface="Arial"/>
              </a:defRPr>
            </a:pPr>
            <a:r>
              <a:t>AFTER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06040"/>
            <a:ext cx="4754879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8B949E"/>
                </a:solidFill>
                <a:latin typeface="Arial"/>
              </a:defRPr>
            </a:pPr>
            <a:r>
              <a:t>•  파일 1, 2, 3 동시 분석</a:t>
            </a:r>
          </a:p>
          <a:p>
            <a:pPr>
              <a:spcAft>
                <a:spcPts val="1400"/>
              </a:spcAft>
              <a:defRPr sz="1600">
                <a:solidFill>
                  <a:srgbClr val="8B949E"/>
                </a:solidFill>
                <a:latin typeface="Arial"/>
              </a:defRPr>
            </a:pPr>
            <a:r>
              <a:t>•  결과 통합</a:t>
            </a:r>
          </a:p>
          <a:p>
            <a:pPr>
              <a:spcAft>
                <a:spcPts val="1400"/>
              </a:spcAft>
              <a:defRPr sz="1600">
                <a:solidFill>
                  <a:srgbClr val="8B949E"/>
                </a:solidFill>
                <a:latin typeface="Arial"/>
              </a:defRPr>
            </a:pPr>
            <a:r>
              <a:t>•  총 소요시간: 12분</a:t>
            </a:r>
          </a:p>
          <a:p>
            <a:pPr>
              <a:spcAft>
                <a:spcPts val="1400"/>
              </a:spcAft>
              <a:defRPr sz="1600">
                <a:solidFill>
                  <a:srgbClr val="8B949E"/>
                </a:solidFill>
                <a:latin typeface="Arial"/>
              </a:defRPr>
            </a:pPr>
            <a:r>
              <a:t>•  62% 시간 절약!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463040" cy="3200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0F6FC"/>
                </a:solidFill>
                <a:latin typeface="Arial"/>
              </a:defRPr>
            </a:pPr>
            <a:r>
              <a:t>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457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E7681"/>
                </a:solidFill>
                <a:latin typeface="Arial"/>
              </a:defRPr>
            </a:pPr>
            <a:r>
              <a:t>12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0F6FC"/>
                </a:solidFill>
                <a:latin typeface="Arial"/>
              </a:defRPr>
            </a:pPr>
            <a:r>
              <a:t>비용 폭발 주의! 49개 병렬의 교훈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1153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8B949E"/>
                </a:solidFill>
                <a:latin typeface="Arial"/>
              </a:defRPr>
            </a:pPr>
            <a:r>
              <a:t>•  병렬 Agent 수 = 비용 배수</a:t>
            </a:r>
          </a:p>
          <a:p>
            <a:pPr>
              <a:spcAft>
                <a:spcPts val="1400"/>
              </a:spcAft>
              <a:defRPr sz="1600">
                <a:solidFill>
                  <a:srgbClr val="8B949E"/>
                </a:solidFill>
                <a:latin typeface="Arial"/>
              </a:defRPr>
            </a:pPr>
            <a:r>
              <a:t>•  권장: 2-4개가 Sweet Spot</a:t>
            </a:r>
          </a:p>
          <a:p>
            <a:pPr>
              <a:spcAft>
                <a:spcPts val="1400"/>
              </a:spcAft>
              <a:defRPr sz="1600">
                <a:solidFill>
                  <a:srgbClr val="8B949E"/>
                </a:solidFill>
                <a:latin typeface="Arial"/>
              </a:defRPr>
            </a:pPr>
            <a:r>
              <a:t>•  5개 이상은 수익 체감</a:t>
            </a:r>
          </a:p>
          <a:p>
            <a:pPr>
              <a:spcAft>
                <a:spcPts val="1400"/>
              </a:spcAft>
              <a:defRPr sz="1600">
                <a:solidFill>
                  <a:srgbClr val="8B949E"/>
                </a:solidFill>
                <a:latin typeface="Arial"/>
              </a:defRPr>
            </a:pPr>
            <a:r>
              <a:t>•  모델 믹싱으로 비용 최적화 (Haiku 활용)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463040" cy="3200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0F6FC"/>
                </a:solidFill>
                <a:latin typeface="Arial"/>
              </a:defRPr>
            </a:pPr>
            <a:r>
              <a:t>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457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E7681"/>
                </a:solidFill>
                <a:latin typeface="Arial"/>
              </a:defRPr>
            </a:pPr>
            <a:r>
              <a:t>13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0F6FC"/>
                </a:solidFill>
                <a:latin typeface="Arial"/>
              </a:defRPr>
            </a:pPr>
            <a:r>
              <a:t>실전 프롬프트 패턴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10911535" cy="347472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362895" cy="292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FB950"/>
                </a:solidFill>
                <a:latin typeface="Consolas"/>
              </a:defRPr>
            </a:pPr>
            <a:r>
              <a:t># 병렬 분석 요청</a:t>
            </a:r>
          </a:p>
          <a:p>
            <a:pPr>
              <a:spcAft>
                <a:spcPts val="600"/>
              </a:spcAft>
              <a:defRPr sz="1400">
                <a:solidFill>
                  <a:srgbClr val="3FB950"/>
                </a:solidFill>
                <a:latin typeface="Consolas"/>
              </a:defRPr>
            </a:pPr>
            <a:r>
              <a:t>"다음 3개 파일을 병렬로 분석해줘:</a:t>
            </a:r>
          </a:p>
          <a:p>
            <a:pPr>
              <a:spcAft>
                <a:spcPts val="600"/>
              </a:spcAft>
              <a:defRPr sz="1400">
                <a:solidFill>
                  <a:srgbClr val="3FB950"/>
                </a:solidFill>
                <a:latin typeface="Consolas"/>
              </a:defRPr>
            </a:pPr>
            <a:r>
              <a:t>  - src/auth.ts</a:t>
            </a:r>
          </a:p>
          <a:p>
            <a:pPr>
              <a:spcAft>
                <a:spcPts val="600"/>
              </a:spcAft>
              <a:defRPr sz="1400">
                <a:solidFill>
                  <a:srgbClr val="3FB950"/>
                </a:solidFill>
                <a:latin typeface="Consolas"/>
              </a:defRPr>
            </a:pPr>
            <a:r>
              <a:t>  - src/api.ts</a:t>
            </a:r>
          </a:p>
          <a:p>
            <a:pPr>
              <a:spcAft>
                <a:spcPts val="600"/>
              </a:spcAft>
              <a:defRPr sz="1400">
                <a:solidFill>
                  <a:srgbClr val="3FB950"/>
                </a:solidFill>
                <a:latin typeface="Consolas"/>
              </a:defRPr>
            </a:pPr>
            <a:r>
              <a:t>  - src/db.ts</a:t>
            </a:r>
          </a:p>
          <a:p>
            <a:pPr>
              <a:spcAft>
                <a:spcPts val="600"/>
              </a:spcAft>
              <a:defRPr sz="1400">
                <a:solidFill>
                  <a:srgbClr val="3FB950"/>
                </a:solidFill>
                <a:latin typeface="Consolas"/>
              </a:defRPr>
            </a:pPr>
            <a:r>
              <a:t>각각 보안 취약점을 찾아줘"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8A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 i="0">
                <a:solidFill>
                  <a:srgbClr val="F0F6FC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10896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0F6FC"/>
                </a:solidFill>
                <a:latin typeface="Arial"/>
              </a:defRPr>
            </a:pPr>
            <a:r>
              <a:t>Skills &amp;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D1117"/>
                </a:solidFill>
                <a:latin typeface="Arial"/>
              </a:defRPr>
            </a:pPr>
            <a:r>
              <a:t>개인 노하우를 팀 자산으로 변환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463040" cy="3200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0F6FC"/>
                </a:solidFill>
                <a:latin typeface="Arial"/>
              </a:defRPr>
            </a:pPr>
            <a:r>
              <a:t>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457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E7681"/>
                </a:solidFill>
                <a:latin typeface="Arial"/>
              </a:defRPr>
            </a:pPr>
            <a:r>
              <a:t>15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0F6FC"/>
                </a:solidFill>
                <a:latin typeface="Arial"/>
              </a:defRPr>
            </a:pPr>
            <a:r>
              <a:t>Skills = 재사용 가능한 지식 모듈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8B949E"/>
                </a:solidFill>
                <a:latin typeface="Arial"/>
              </a:defRPr>
            </a:pPr>
            <a:r>
              <a:t>•  SKILL.md 파일에 워크플로우 정의</a:t>
            </a:r>
          </a:p>
          <a:p>
            <a:pPr>
              <a:spcAft>
                <a:spcPts val="1400"/>
              </a:spcAft>
              <a:defRPr sz="1600">
                <a:solidFill>
                  <a:srgbClr val="8B949E"/>
                </a:solidFill>
                <a:latin typeface="Arial"/>
              </a:defRPr>
            </a:pPr>
            <a:r>
              <a:t>•  .claude/skills/ 폴더에 저장</a:t>
            </a:r>
          </a:p>
          <a:p>
            <a:pPr>
              <a:spcAft>
                <a:spcPts val="1400"/>
              </a:spcAft>
              <a:defRPr sz="1600">
                <a:solidFill>
                  <a:srgbClr val="8B949E"/>
                </a:solidFill>
                <a:latin typeface="Arial"/>
              </a:defRPr>
            </a:pPr>
            <a:r>
              <a:t>•  Git으로 팀 전체 공유 가능</a:t>
            </a:r>
          </a:p>
          <a:p>
            <a:pPr>
              <a:spcAft>
                <a:spcPts val="1400"/>
              </a:spcAft>
              <a:defRPr sz="1600">
                <a:solidFill>
                  <a:srgbClr val="8B949E"/>
                </a:solidFill>
                <a:latin typeface="Arial"/>
              </a:defRPr>
            </a:pPr>
            <a:r>
              <a:t>•  복잡한 작업을 명령어 하나로!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0" y="1920240"/>
            <a:ext cx="5699455" cy="32004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3291839"/>
            <a:ext cx="56994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6E7681"/>
                </a:solidFill>
                <a:latin typeface="Arial"/>
              </a:defRPr>
            </a:pPr>
            <a:r>
              <a:t>[ Diagram / Visual 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463040" cy="3200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0F6FC"/>
                </a:solidFill>
                <a:latin typeface="Arial"/>
              </a:defRPr>
            </a:pPr>
            <a:r>
              <a:t>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457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E7681"/>
                </a:solidFill>
                <a:latin typeface="Arial"/>
              </a:defRPr>
            </a:pPr>
            <a:r>
              <a:t>16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0F6FC"/>
                </a:solidFill>
                <a:latin typeface="Arial"/>
              </a:defRPr>
            </a:pPr>
            <a:r>
              <a:t>SKILL.md 작성 예시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10911535" cy="347472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362895" cy="292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FB950"/>
                </a:solidFill>
                <a:latin typeface="Consolas"/>
              </a:defRPr>
            </a:pPr>
            <a:r>
              <a:t>---</a:t>
            </a:r>
          </a:p>
          <a:p>
            <a:pPr>
              <a:spcAft>
                <a:spcPts val="600"/>
              </a:spcAft>
              <a:defRPr sz="1400">
                <a:solidFill>
                  <a:srgbClr val="3FB950"/>
                </a:solidFill>
                <a:latin typeface="Consolas"/>
              </a:defRPr>
            </a:pPr>
            <a:r>
              <a:t>name: code-review</a:t>
            </a:r>
          </a:p>
          <a:p>
            <a:pPr>
              <a:spcAft>
                <a:spcPts val="600"/>
              </a:spcAft>
              <a:defRPr sz="1400">
                <a:solidFill>
                  <a:srgbClr val="3FB950"/>
                </a:solidFill>
                <a:latin typeface="Consolas"/>
              </a:defRPr>
            </a:pPr>
            <a:r>
              <a:t>description: 코드 리뷰 자동화</a:t>
            </a:r>
          </a:p>
          <a:p>
            <a:pPr>
              <a:spcAft>
                <a:spcPts val="600"/>
              </a:spcAft>
              <a:defRPr sz="1400">
                <a:solidFill>
                  <a:srgbClr val="3FB950"/>
                </a:solidFill>
                <a:latin typeface="Consolas"/>
              </a:defRPr>
            </a:pPr>
            <a:r>
              <a:t>---</a:t>
            </a:r>
          </a:p>
          <a:p>
            <a:pPr>
              <a:spcAft>
                <a:spcPts val="600"/>
              </a:spcAft>
              <a:defRPr sz="1400">
                <a:solidFill>
                  <a:srgbClr val="3FB950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FB950"/>
                </a:solidFill>
                <a:latin typeface="Consolas"/>
              </a:defRPr>
            </a:pPr>
            <a:r>
              <a:t># Code Review Skill</a:t>
            </a:r>
          </a:p>
          <a:p>
            <a:pPr>
              <a:spcAft>
                <a:spcPts val="600"/>
              </a:spcAft>
              <a:defRPr sz="1400">
                <a:solidFill>
                  <a:srgbClr val="3FB950"/>
                </a:solidFill>
                <a:latin typeface="Consolas"/>
              </a:defRPr>
            </a:pPr>
            <a:r>
              <a:t>1. 파일 변경사항 분석</a:t>
            </a:r>
          </a:p>
          <a:p>
            <a:pPr>
              <a:spcAft>
                <a:spcPts val="600"/>
              </a:spcAft>
              <a:defRPr sz="1400">
                <a:solidFill>
                  <a:srgbClr val="3FB950"/>
                </a:solidFill>
                <a:latin typeface="Consolas"/>
              </a:defRPr>
            </a:pPr>
            <a:r>
              <a:t>2. 코딩 컨벤션 체크</a:t>
            </a:r>
          </a:p>
          <a:p>
            <a:pPr>
              <a:spcAft>
                <a:spcPts val="600"/>
              </a:spcAft>
              <a:defRPr sz="1400">
                <a:solidFill>
                  <a:srgbClr val="3FB950"/>
                </a:solidFill>
                <a:latin typeface="Consolas"/>
              </a:defRPr>
            </a:pPr>
            <a:r>
              <a:t>3. 보안 취약점 스캔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463040" cy="3200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0F6FC"/>
                </a:solidFill>
                <a:latin typeface="Arial"/>
              </a:defRPr>
            </a:pPr>
            <a:r>
              <a:t>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457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E7681"/>
                </a:solidFill>
                <a:latin typeface="Arial"/>
              </a:defRPr>
            </a:pPr>
            <a:r>
              <a:t>17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0F6FC"/>
                </a:solidFill>
                <a:latin typeface="Arial"/>
              </a:defRPr>
            </a:pPr>
            <a:r>
              <a:t>Custom Commands로 워크플로우 자동화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1153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8B949E"/>
                </a:solidFill>
                <a:latin typeface="Arial"/>
              </a:defRPr>
            </a:pPr>
            <a:r>
              <a:t>•  /feature - 새 기능 개발 시작</a:t>
            </a:r>
          </a:p>
          <a:p>
            <a:pPr>
              <a:spcAft>
                <a:spcPts val="1400"/>
              </a:spcAft>
              <a:defRPr sz="1600">
                <a:solidFill>
                  <a:srgbClr val="8B949E"/>
                </a:solidFill>
                <a:latin typeface="Arial"/>
              </a:defRPr>
            </a:pPr>
            <a:r>
              <a:t>•  /review - 코드 리뷰 실행</a:t>
            </a:r>
          </a:p>
          <a:p>
            <a:pPr>
              <a:spcAft>
                <a:spcPts val="1400"/>
              </a:spcAft>
              <a:defRPr sz="1600">
                <a:solidFill>
                  <a:srgbClr val="8B949E"/>
                </a:solidFill>
                <a:latin typeface="Arial"/>
              </a:defRPr>
            </a:pPr>
            <a:r>
              <a:t>•  /test - 테스트 작성 및 실행</a:t>
            </a:r>
          </a:p>
          <a:p>
            <a:pPr>
              <a:spcAft>
                <a:spcPts val="1400"/>
              </a:spcAft>
              <a:defRPr sz="1600">
                <a:solidFill>
                  <a:srgbClr val="8B949E"/>
                </a:solidFill>
                <a:latin typeface="Arial"/>
              </a:defRPr>
            </a:pPr>
            <a:r>
              <a:t>•  /deploy - 배포 프로세스 시작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8A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 i="0">
                <a:solidFill>
                  <a:srgbClr val="F0F6FC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10896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0F6FC"/>
                </a:solidFill>
                <a:latin typeface="Arial"/>
              </a:defRPr>
            </a:pPr>
            <a:r>
              <a:t>MCP 통합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D1117"/>
                </a:solidFill>
                <a:latin typeface="Arial"/>
              </a:defRPr>
            </a:pPr>
            <a:r>
              <a:t>AI의 USB-C 포트 - 무한 확장 가능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463040" cy="3200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0F6FC"/>
                </a:solidFill>
                <a:latin typeface="Arial"/>
              </a:defRPr>
            </a:pPr>
            <a:r>
              <a:t>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457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E7681"/>
                </a:solidFill>
                <a:latin typeface="Arial"/>
              </a:defRPr>
            </a:pPr>
            <a:r>
              <a:t>19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0F6FC"/>
                </a:solidFill>
                <a:latin typeface="Arial"/>
              </a:defRPr>
            </a:pPr>
            <a:r>
              <a:t>MCP = Model Context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8B949E"/>
                </a:solidFill>
                <a:latin typeface="Arial"/>
              </a:defRPr>
            </a:pPr>
            <a:r>
              <a:t>•  AI와 외부 시스템 연결 표준</a:t>
            </a:r>
          </a:p>
          <a:p>
            <a:pPr>
              <a:spcAft>
                <a:spcPts val="1400"/>
              </a:spcAft>
              <a:defRPr sz="1600">
                <a:solidFill>
                  <a:srgbClr val="8B949E"/>
                </a:solidFill>
                <a:latin typeface="Arial"/>
              </a:defRPr>
            </a:pPr>
            <a:r>
              <a:t>•  데이터베이스, API, 파일시스템</a:t>
            </a:r>
          </a:p>
          <a:p>
            <a:pPr>
              <a:spcAft>
                <a:spcPts val="1400"/>
              </a:spcAft>
              <a:defRPr sz="1600">
                <a:solidFill>
                  <a:srgbClr val="8B949E"/>
                </a:solidFill>
                <a:latin typeface="Arial"/>
              </a:defRPr>
            </a:pPr>
            <a:r>
              <a:t>•  플러그인처럼 기능 확장</a:t>
            </a:r>
          </a:p>
          <a:p>
            <a:pPr>
              <a:spcAft>
                <a:spcPts val="1400"/>
              </a:spcAft>
              <a:defRPr sz="1600">
                <a:solidFill>
                  <a:srgbClr val="8B949E"/>
                </a:solidFill>
                <a:latin typeface="Arial"/>
              </a:defRPr>
            </a:pPr>
            <a:r>
              <a:t>•  한 번 설정, 계속 사용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0" y="1920240"/>
            <a:ext cx="5699455" cy="32004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3291839"/>
            <a:ext cx="56994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6E7681"/>
                </a:solidFill>
                <a:latin typeface="Arial"/>
              </a:defRPr>
            </a:pPr>
            <a:r>
              <a:t>[ Diagram / Visual 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463040" cy="3200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0F6FC"/>
                </a:solidFill>
                <a:latin typeface="Arial"/>
              </a:defRPr>
            </a:pPr>
            <a:r>
              <a:t>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457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E7681"/>
                </a:solidFill>
                <a:latin typeface="Arial"/>
              </a:defRPr>
            </a:pPr>
            <a:r>
              <a:t>20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0F6FC"/>
                </a:solidFill>
                <a:latin typeface="Arial"/>
              </a:defRPr>
            </a:pPr>
            <a:r>
              <a:t>4대 MCP 서버 활용법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207" y="2103120"/>
            <a:ext cx="3108960" cy="256032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5207" y="25603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3FB950"/>
                </a:solidFill>
                <a:latin typeface="Arial"/>
              </a:defRPr>
            </a:pPr>
            <a:r>
              <a:t>Context7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207" y="3931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B949E"/>
                </a:solidFill>
                <a:latin typeface="Arial"/>
              </a:defRPr>
            </a:pPr>
            <a:r>
              <a:t>문서 검색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41367" y="2103120"/>
            <a:ext cx="3108960" cy="256032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1367" y="25603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3FB950"/>
                </a:solidFill>
                <a:latin typeface="Arial"/>
              </a:defRPr>
            </a:pPr>
            <a:r>
              <a:t>Playwright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1367" y="3931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B949E"/>
                </a:solidFill>
                <a:latin typeface="Arial"/>
              </a:defRPr>
            </a:pPr>
            <a:r>
              <a:t>브라우저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07527" y="2103120"/>
            <a:ext cx="3108960" cy="256032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07527" y="25603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3FB950"/>
                </a:solidFill>
                <a:latin typeface="Arial"/>
              </a:defRPr>
            </a:pPr>
            <a:r>
              <a:t>SQLite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7527" y="3931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B949E"/>
                </a:solidFill>
                <a:latin typeface="Arial"/>
              </a:defRPr>
            </a:pPr>
            <a:r>
              <a:t>데이터베이스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8A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 i="0">
                <a:solidFill>
                  <a:srgbClr val="F0F6FC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10896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0F6FC"/>
                </a:solidFill>
                <a:latin typeface="Arial"/>
              </a:defRPr>
            </a:pPr>
            <a:r>
              <a:t>실전 &amp; 마인드셋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D1117"/>
                </a:solidFill>
                <a:latin typeface="Arial"/>
              </a:defRPr>
            </a:pPr>
            <a:r>
              <a:t>AI-Native 개발자로 성장하기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463040" cy="3200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0F6FC"/>
                </a:solidFill>
                <a:latin typeface="Arial"/>
              </a:defRPr>
            </a:pPr>
            <a:r>
              <a:t>MINDSET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457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E7681"/>
                </a:solidFill>
                <a:latin typeface="Arial"/>
              </a:defRPr>
            </a:pPr>
            <a:r>
              <a:t>22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0F6FC"/>
                </a:solidFill>
                <a:latin typeface="Arial"/>
              </a:defRPr>
            </a:pPr>
            <a:r>
              <a:t>새 기능 개발 A to 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1153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8B949E"/>
                </a:solidFill>
                <a:latin typeface="Arial"/>
              </a:defRPr>
            </a:pPr>
            <a:r>
              <a:t>•  1. 요구사항 정리 (프롬프트 작성)</a:t>
            </a:r>
          </a:p>
          <a:p>
            <a:pPr>
              <a:spcAft>
                <a:spcPts val="1400"/>
              </a:spcAft>
              <a:defRPr sz="1600">
                <a:solidFill>
                  <a:srgbClr val="8B949E"/>
                </a:solidFill>
                <a:latin typeface="Arial"/>
              </a:defRPr>
            </a:pPr>
            <a:r>
              <a:t>•  2. 설계 리뷰 (AI와 토론)</a:t>
            </a:r>
          </a:p>
          <a:p>
            <a:pPr>
              <a:spcAft>
                <a:spcPts val="1400"/>
              </a:spcAft>
              <a:defRPr sz="1600">
                <a:solidFill>
                  <a:srgbClr val="8B949E"/>
                </a:solidFill>
                <a:latin typeface="Arial"/>
              </a:defRPr>
            </a:pPr>
            <a:r>
              <a:t>•  3. 코드 생성 (병렬 작업)</a:t>
            </a:r>
          </a:p>
          <a:p>
            <a:pPr>
              <a:spcAft>
                <a:spcPts val="1400"/>
              </a:spcAft>
              <a:defRPr sz="1600">
                <a:solidFill>
                  <a:srgbClr val="8B949E"/>
                </a:solidFill>
                <a:latin typeface="Arial"/>
              </a:defRPr>
            </a:pPr>
            <a:r>
              <a:t>•  4. 테스트 &amp; 리팩토링</a:t>
            </a:r>
          </a:p>
          <a:p>
            <a:pPr>
              <a:spcAft>
                <a:spcPts val="1400"/>
              </a:spcAft>
              <a:defRPr sz="1600">
                <a:solidFill>
                  <a:srgbClr val="8B949E"/>
                </a:solidFill>
                <a:latin typeface="Arial"/>
              </a:defRPr>
            </a:pPr>
            <a:r>
              <a:t>•  5. 코드 리뷰 &amp; 배포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463040" cy="3200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0F6FC"/>
                </a:solidFill>
                <a:latin typeface="Arial"/>
              </a:defRPr>
            </a:pPr>
            <a:r>
              <a:t>MINDSET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457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E7681"/>
                </a:solidFill>
                <a:latin typeface="Arial"/>
              </a:defRPr>
            </a:pPr>
            <a:r>
              <a:t>23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0F6FC"/>
                </a:solidFill>
                <a:latin typeface="Arial"/>
              </a:defRPr>
            </a:pPr>
            <a:r>
              <a:t>구현 → 설계에 시간 투자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5120640" cy="41148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0F6FC"/>
                </a:solidFill>
                <a:latin typeface="Arial"/>
              </a:defRPr>
            </a:pPr>
            <a: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06040"/>
            <a:ext cx="4754879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8B949E"/>
                </a:solidFill>
                <a:latin typeface="Arial"/>
              </a:defRPr>
            </a:pPr>
            <a:r>
              <a:t>•  구현 70%</a:t>
            </a:r>
          </a:p>
          <a:p>
            <a:pPr>
              <a:spcAft>
                <a:spcPts val="1400"/>
              </a:spcAft>
              <a:defRPr sz="1600">
                <a:solidFill>
                  <a:srgbClr val="8B949E"/>
                </a:solidFill>
                <a:latin typeface="Arial"/>
              </a:defRPr>
            </a:pPr>
            <a:r>
              <a:t>•  설계 15%</a:t>
            </a:r>
          </a:p>
          <a:p>
            <a:pPr>
              <a:spcAft>
                <a:spcPts val="1400"/>
              </a:spcAft>
              <a:defRPr sz="1600">
                <a:solidFill>
                  <a:srgbClr val="8B949E"/>
                </a:solidFill>
                <a:latin typeface="Arial"/>
              </a:defRPr>
            </a:pPr>
            <a:r>
              <a:t>•  테스트 15%</a:t>
            </a:r>
          </a:p>
          <a:p>
            <a:pPr>
              <a:spcAft>
                <a:spcPts val="1400"/>
              </a:spcAft>
              <a:defRPr sz="1600">
                <a:solidFill>
                  <a:srgbClr val="8B949E"/>
                </a:solidFill>
                <a:latin typeface="Arial"/>
              </a:defRPr>
            </a:pPr>
            <a:r>
              <a:t>•  야근이 일상...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920240"/>
            <a:ext cx="5120640" cy="41148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9202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0D1117"/>
                </a:solidFill>
                <a:latin typeface="Arial"/>
              </a:defRPr>
            </a:pPr>
            <a:r>
              <a:t>AFTER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06040"/>
            <a:ext cx="4754879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8B949E"/>
                </a:solidFill>
                <a:latin typeface="Arial"/>
              </a:defRPr>
            </a:pPr>
            <a:r>
              <a:t>•  설계 50%</a:t>
            </a:r>
          </a:p>
          <a:p>
            <a:pPr>
              <a:spcAft>
                <a:spcPts val="1400"/>
              </a:spcAft>
              <a:defRPr sz="1600">
                <a:solidFill>
                  <a:srgbClr val="8B949E"/>
                </a:solidFill>
                <a:latin typeface="Arial"/>
              </a:defRPr>
            </a:pPr>
            <a:r>
              <a:t>•  구현 20%</a:t>
            </a:r>
          </a:p>
          <a:p>
            <a:pPr>
              <a:spcAft>
                <a:spcPts val="1400"/>
              </a:spcAft>
              <a:defRPr sz="1600">
                <a:solidFill>
                  <a:srgbClr val="8B949E"/>
                </a:solidFill>
                <a:latin typeface="Arial"/>
              </a:defRPr>
            </a:pPr>
            <a:r>
              <a:t>•  검증 30%</a:t>
            </a:r>
          </a:p>
          <a:p>
            <a:pPr>
              <a:spcAft>
                <a:spcPts val="1400"/>
              </a:spcAft>
              <a:defRPr sz="1600">
                <a:solidFill>
                  <a:srgbClr val="8B949E"/>
                </a:solidFill>
                <a:latin typeface="Arial"/>
              </a:defRPr>
            </a:pPr>
            <a:r>
              <a:t>•  워라밸 확보!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463040" cy="3200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0F6FC"/>
                </a:solidFill>
                <a:latin typeface="Arial"/>
              </a:defRPr>
            </a:pPr>
            <a:r>
              <a:t>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457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E7681"/>
                </a:solidFill>
                <a:latin typeface="Arial"/>
              </a:defRPr>
            </a:pPr>
            <a:r>
              <a:t>24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0F6FC"/>
                </a:solidFill>
                <a:latin typeface="Arial"/>
              </a:defRPr>
            </a:pPr>
            <a:r>
              <a:t>내일부터 바로 할 수 있는 3가지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10911535" cy="73152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457200" cy="4572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0F6FC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011680"/>
            <a:ext cx="9905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0F6FC"/>
                </a:solidFill>
                <a:latin typeface="Arial"/>
              </a:defRPr>
            </a:pPr>
            <a:r>
              <a:t>Day 1: Status Line 설정하고 Context 모니터링 시작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26080"/>
            <a:ext cx="10911535" cy="73152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063240"/>
            <a:ext cx="457200" cy="4572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63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0F6FC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926080"/>
            <a:ext cx="9905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0F6FC"/>
                </a:solidFill>
                <a:latin typeface="Arial"/>
              </a:defRPr>
            </a:pPr>
            <a:r>
              <a:t>Day 2: 반복 작업을 Skill로 만들어보기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840480"/>
            <a:ext cx="10911535" cy="73152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977640"/>
            <a:ext cx="457200" cy="4572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977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0F6FC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840480"/>
            <a:ext cx="9905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0F6FC"/>
                </a:solidFill>
                <a:latin typeface="Arial"/>
              </a:defRPr>
            </a:pPr>
            <a:r>
              <a:t>Day 3: 병렬 Agent로 코드 리뷰 자동화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8A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0"/>
            <a:ext cx="109115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0F6FC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56616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0D1117"/>
                </a:solidFill>
                <a:latin typeface="Arial"/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0D1117"/>
                </a:solidFill>
                <a:latin typeface="Arial"/>
              </a:defRPr>
            </a:pPr>
            <a:r>
              <a:t>AI가 코드를 짜는 시대, 우리는 더 나은 설계자가 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