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9575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14400" y="428625"/>
            <a:ext cx="777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1809750" y="381000"/>
            <a:ext cx="1428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95463" y="381000"/>
            <a:ext cx="14573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TECHNICAL SEMINAR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8096250" y="381000"/>
            <a:ext cx="57150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A1A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90535" y="381000"/>
            <a:ext cx="5829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8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09600" y="1714500"/>
            <a:ext cx="68008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2.0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09600" y="2714625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Agentic Coding in Your Terminal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4333875"/>
            <a:ext cx="1457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Platform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609600" y="4552950"/>
            <a:ext cx="17487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CLI / VS Code / JetBrains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2667000" y="4333875"/>
            <a:ext cx="1457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667000" y="4552950"/>
            <a:ext cx="1943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Sonnet 4 / Opus 4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953000" y="4333875"/>
            <a:ext cx="1457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Website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953000" y="4552950"/>
            <a:ext cx="14573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claude.ai/code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8C4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2825"/>
            <a:ext cx="2914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2.0 SEMINAR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600" y="3810000"/>
            <a:ext cx="2914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552825" y="1624013"/>
            <a:ext cx="49720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52825" y="1171575"/>
            <a:ext cx="400050" cy="257175"/>
          </a:xfrm>
          <a:prstGeom prst="roundRect">
            <a:avLst>
              <a:gd name="adj" fmla="val 1851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48825" y="1171575"/>
            <a:ext cx="4080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0" y="1190625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 to Claude Code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552825" y="2233612"/>
            <a:ext cx="49720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2825" y="1781175"/>
            <a:ext cx="400050" cy="257175"/>
          </a:xfrm>
          <a:prstGeom prst="roundRect">
            <a:avLst>
              <a:gd name="adj" fmla="val 1851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48825" y="1781175"/>
            <a:ext cx="4080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0" y="1800225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Features Overview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552825" y="2843212"/>
            <a:ext cx="49720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2825" y="2390775"/>
            <a:ext cx="400050" cy="257175"/>
          </a:xfrm>
          <a:prstGeom prst="roundRect">
            <a:avLst>
              <a:gd name="adj" fmla="val 1851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48825" y="2390775"/>
            <a:ext cx="4080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0" y="2409825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Extended Thinking &amp; MCP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552825" y="3452813"/>
            <a:ext cx="49720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52825" y="3000375"/>
            <a:ext cx="400050" cy="257175"/>
          </a:xfrm>
          <a:prstGeom prst="roundRect">
            <a:avLst>
              <a:gd name="adj" fmla="val 1851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48825" y="3000375"/>
            <a:ext cx="4080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0" y="3019425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 Agents &amp; Hooks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552825" y="3609975"/>
            <a:ext cx="400050" cy="257175"/>
          </a:xfrm>
          <a:prstGeom prst="roundRect">
            <a:avLst>
              <a:gd name="adj" fmla="val 18519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48825" y="3609975"/>
            <a:ext cx="4080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0" y="3629025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 &amp; Q&amp;A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952500" cy="2667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0075" y="609600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06640" y="657225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2790825"/>
            <a:ext cx="4857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609600" y="3686175"/>
            <a:ext cx="582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1575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 is Claude Code and why does it matter for developers?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8281035" y="45339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04825"/>
            <a:ext cx="342900" cy="247650"/>
          </a:xfrm>
          <a:prstGeom prst="roundRect">
            <a:avLst>
              <a:gd name="adj" fmla="val 1923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6171" y="504825"/>
            <a:ext cx="3497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62050" y="504825"/>
            <a:ext cx="388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 is Claude Code?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76285" y="561975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09600" y="126682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Agentic AI for Coding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600" y="1647825"/>
            <a:ext cx="3886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is an agentic coding tool that lives in your terminal. It understands your codebase and helps you code faster.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609600" y="2543175"/>
            <a:ext cx="3810000" cy="952500"/>
          </a:xfrm>
          <a:prstGeom prst="rect">
            <a:avLst/>
          </a:prstGeom>
          <a:noFill/>
          <a:ln/>
        </p:spPr>
        <p:txBody>
          <a:bodyPr wrap="square" lIns="123825" tIns="0" rIns="0" bIns="0" rtlCol="0" anchor="t"/>
          <a:lstStyle/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 and understand entire codebases</a:t>
            </a:r>
            <a:endParaRPr lang="en-US" sz="1200" dirty="0"/>
          </a:p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Execute shell commands safely</a:t>
            </a:r>
            <a:endParaRPr lang="en-US" sz="1200" dirty="0"/>
          </a:p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 files with precision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19650" y="1266825"/>
            <a:ext cx="3789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Capabilities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19650" y="1647825"/>
            <a:ext cx="378904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Built on Claude's latest models with native terminal integration.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4819650" y="2352675"/>
            <a:ext cx="3714750" cy="952500"/>
          </a:xfrm>
          <a:prstGeom prst="rect">
            <a:avLst/>
          </a:prstGeom>
          <a:noFill/>
          <a:ln/>
        </p:spPr>
        <p:txBody>
          <a:bodyPr wrap="square" lIns="123825" tIns="0" rIns="0" bIns="0" rtlCol="0" anchor="t"/>
          <a:lstStyle/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 operations and version control</a:t>
            </a:r>
            <a:endParaRPr lang="en-US" sz="1200" dirty="0"/>
          </a:p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 writing and debugging</a:t>
            </a:r>
            <a:endParaRPr lang="en-US" sz="1200" dirty="0"/>
          </a:p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Refactoring with context awareness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4600575"/>
            <a:ext cx="7924800" cy="9525"/>
          </a:xfrm>
          <a:prstGeom prst="rect">
            <a:avLst/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600" y="4752975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claude.ai/code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62850" y="4752975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04825"/>
            <a:ext cx="2914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Metrics</a:t>
            </a:r>
            <a:endParaRPr lang="en-US" sz="2775" dirty="0"/>
          </a:p>
        </p:txBody>
      </p:sp>
      <p:sp>
        <p:nvSpPr>
          <p:cNvPr id="3" name="Text 1"/>
          <p:cNvSpPr/>
          <p:nvPr/>
        </p:nvSpPr>
        <p:spPr>
          <a:xfrm>
            <a:off x="8376285" y="6096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09600" y="1266825"/>
            <a:ext cx="2543175" cy="2543175"/>
          </a:xfrm>
          <a:prstGeom prst="roundRect">
            <a:avLst>
              <a:gd name="adj" fmla="val 5993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1571625"/>
            <a:ext cx="19722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DEVELOPER ADOPTION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14400" y="2543175"/>
            <a:ext cx="197224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500K+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14400" y="3305175"/>
            <a:ext cx="19722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 users worldwide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05175" y="1266825"/>
            <a:ext cx="2543175" cy="2543175"/>
          </a:xfrm>
          <a:prstGeom prst="roundRect">
            <a:avLst>
              <a:gd name="adj" fmla="val 599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09975" y="1571625"/>
            <a:ext cx="19722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 GENERATED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609975" y="2543175"/>
            <a:ext cx="197224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10M+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3609975" y="3305175"/>
            <a:ext cx="19722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Lines of code per day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00750" y="1266825"/>
            <a:ext cx="2543175" cy="2543175"/>
          </a:xfrm>
          <a:prstGeom prst="roundRect">
            <a:avLst>
              <a:gd name="adj" fmla="val 5993"/>
            </a:avLst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05550" y="1571625"/>
            <a:ext cx="19722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PRODUCTIVITY GAIN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305550" y="2543175"/>
            <a:ext cx="197224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3x</a:t>
            </a:r>
            <a:endParaRPr lang="en-US" sz="4350" dirty="0"/>
          </a:p>
        </p:txBody>
      </p:sp>
      <p:sp>
        <p:nvSpPr>
          <p:cNvPr id="15" name="Text 13"/>
          <p:cNvSpPr/>
          <p:nvPr/>
        </p:nvSpPr>
        <p:spPr>
          <a:xfrm>
            <a:off x="6305550" y="3305175"/>
            <a:ext cx="19722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Faster development cycles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55005" y="4600575"/>
            <a:ext cx="28174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Anthropic Internal Data 2025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952500" cy="2667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0075" y="609600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06640" y="657225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2790825"/>
            <a:ext cx="4857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Features</a:t>
            </a:r>
            <a:endParaRPr lang="en-US" sz="5550" dirty="0"/>
          </a:p>
        </p:txBody>
      </p:sp>
      <p:sp>
        <p:nvSpPr>
          <p:cNvPr id="6" name="Text 4"/>
          <p:cNvSpPr/>
          <p:nvPr/>
        </p:nvSpPr>
        <p:spPr>
          <a:xfrm>
            <a:off x="609600" y="3686175"/>
            <a:ext cx="680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Extended Thinking, MCP, and advanced agentic capabilities.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8281035" y="45339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04825"/>
            <a:ext cx="342900" cy="247650"/>
          </a:xfrm>
          <a:prstGeom prst="roundRect">
            <a:avLst>
              <a:gd name="adj" fmla="val 1923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6171" y="504825"/>
            <a:ext cx="3497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62050" y="504825"/>
            <a:ext cx="388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Extended Thinking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76285" y="561975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09600" y="1266825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 Reasoning for Complex Tasks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600" y="1647825"/>
            <a:ext cx="40805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Extended thinking allows Claude to reason through complex problems step by step.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609600" y="2409825"/>
            <a:ext cx="4000500" cy="1238250"/>
          </a:xfrm>
          <a:prstGeom prst="rect">
            <a:avLst/>
          </a:prstGeom>
          <a:noFill/>
          <a:ln/>
        </p:spPr>
        <p:txBody>
          <a:bodyPr wrap="square" lIns="123825" tIns="0" rIns="0" bIns="0" rtlCol="0" anchor="t"/>
          <a:lstStyle/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Multi-step reasoning chains</a:t>
            </a:r>
            <a:endParaRPr lang="en-US" sz="1200" dirty="0"/>
          </a:p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Better code architecture decisions</a:t>
            </a:r>
            <a:endParaRPr lang="en-US" sz="1200" dirty="0"/>
          </a:p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Improved debugging accuracy</a:t>
            </a:r>
            <a:endParaRPr lang="en-US" sz="1200" dirty="0"/>
          </a:p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Complex refactoring support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67300" y="1266825"/>
            <a:ext cx="3467100" cy="2543175"/>
          </a:xfrm>
          <a:prstGeom prst="roundRect">
            <a:avLst>
              <a:gd name="adj" fmla="val 5993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72100" y="1524000"/>
            <a:ext cx="2914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USAGE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372100" y="1905000"/>
            <a:ext cx="2857500" cy="1019175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62600" y="20574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claude --think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62600" y="23622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or in conversation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62600" y="260985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/think 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72100" y="3171825"/>
            <a:ext cx="2914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Enable extended thinking for complex architectural decisions.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9600" y="4600575"/>
            <a:ext cx="7924800" cy="9525"/>
          </a:xfrm>
          <a:prstGeom prst="rect">
            <a:avLst/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600" y="4752975"/>
            <a:ext cx="27203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Powered by Claude Sonnet 4 / Opus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562850" y="4752975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04825"/>
            <a:ext cx="342900" cy="247650"/>
          </a:xfrm>
          <a:prstGeom prst="roundRect">
            <a:avLst>
              <a:gd name="adj" fmla="val 1923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6171" y="504825"/>
            <a:ext cx="3497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62050" y="504825"/>
            <a:ext cx="4857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 Context Protocol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76285" y="561975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09600" y="126682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Extend Claude's Capabilities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600" y="1647825"/>
            <a:ext cx="3886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enables Claude Code to integrate with external tools, databases, and APIs.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609600" y="2476500"/>
            <a:ext cx="3810000" cy="952500"/>
          </a:xfrm>
          <a:prstGeom prst="rect">
            <a:avLst/>
          </a:prstGeom>
          <a:noFill/>
          <a:ln/>
        </p:spPr>
        <p:txBody>
          <a:bodyPr wrap="square" lIns="123825" tIns="0" rIns="0" bIns="0" rtlCol="0" anchor="t"/>
          <a:lstStyle/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 to databases directly</a:t>
            </a:r>
            <a:endParaRPr lang="en-US" sz="1200" dirty="0"/>
          </a:p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Integrate with external APIs</a:t>
            </a:r>
            <a:endParaRPr lang="en-US" sz="1200" dirty="0"/>
          </a:p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Custom tool creation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19650" y="126682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Built-in MCP Servers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19650" y="1781175"/>
            <a:ext cx="1781175" cy="714375"/>
          </a:xfrm>
          <a:prstGeom prst="roundRect">
            <a:avLst>
              <a:gd name="adj" fmla="val 13333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72050" y="1933575"/>
            <a:ext cx="1505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72050" y="2162175"/>
            <a:ext cx="1505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Database queries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753225" y="1781175"/>
            <a:ext cx="1781175" cy="714375"/>
          </a:xfrm>
          <a:prstGeom prst="roundRect">
            <a:avLst>
              <a:gd name="adj" fmla="val 13333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05625" y="1933575"/>
            <a:ext cx="1505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05625" y="2162175"/>
            <a:ext cx="1505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Repository access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819650" y="2638425"/>
            <a:ext cx="1781175" cy="714375"/>
          </a:xfrm>
          <a:prstGeom prst="roundRect">
            <a:avLst>
              <a:gd name="adj" fmla="val 13333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72050" y="2790825"/>
            <a:ext cx="1505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Slack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72050" y="3019425"/>
            <a:ext cx="1505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messaging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753225" y="2638425"/>
            <a:ext cx="1781175" cy="714375"/>
          </a:xfrm>
          <a:prstGeom prst="roundRect">
            <a:avLst>
              <a:gd name="adj" fmla="val 13333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05625" y="2790825"/>
            <a:ext cx="1505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Puppeteer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05625" y="3019425"/>
            <a:ext cx="1505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Browser automation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09600" y="4600575"/>
            <a:ext cx="7924800" cy="9525"/>
          </a:xfrm>
          <a:prstGeom prst="rect">
            <a:avLst/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600" y="4752975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modelcontextprotocol.io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62850" y="4752975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04775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9123" y="609600"/>
            <a:ext cx="10687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212330" y="685800"/>
            <a:ext cx="1360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2.0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2667000"/>
            <a:ext cx="58293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Advanced Features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09600" y="3619500"/>
            <a:ext cx="6800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 agents, custom hooks, and powerful automation.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79130" y="4572000"/>
            <a:ext cx="3886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04825"/>
            <a:ext cx="342900" cy="247650"/>
          </a:xfrm>
          <a:prstGeom prst="roundRect">
            <a:avLst>
              <a:gd name="adj" fmla="val 1923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6171" y="504825"/>
            <a:ext cx="3497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62050" y="504825"/>
            <a:ext cx="388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 Agents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76285" y="561975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09600" y="1266825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Task Execution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600" y="1647825"/>
            <a:ext cx="40805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 multiple Claude agents in the background while you continue working.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609600" y="2352675"/>
            <a:ext cx="4000500" cy="1238250"/>
          </a:xfrm>
          <a:prstGeom prst="rect">
            <a:avLst/>
          </a:prstGeom>
          <a:noFill/>
          <a:ln/>
        </p:spPr>
        <p:txBody>
          <a:bodyPr wrap="square" lIns="123825" tIns="0" rIns="0" bIns="0" rtlCol="0" anchor="t"/>
          <a:lstStyle/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Non-blocking operations</a:t>
            </a:r>
            <a:endParaRPr lang="en-US" sz="1200" dirty="0"/>
          </a:p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Progress monitoring</a:t>
            </a:r>
            <a:endParaRPr lang="en-US" sz="1200" dirty="0"/>
          </a:p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Task queue management</a:t>
            </a:r>
            <a:endParaRPr lang="en-US" sz="1200" dirty="0"/>
          </a:p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 aggregation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67300" y="1266825"/>
            <a:ext cx="3467100" cy="2790825"/>
          </a:xfrm>
          <a:prstGeom prst="roundRect">
            <a:avLst>
              <a:gd name="adj" fmla="val 5461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72100" y="1524000"/>
            <a:ext cx="2914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 USAGE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372100" y="1905000"/>
            <a:ext cx="28575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62600" y="20574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Start background agent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62600" y="2286000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/background "Run tests"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62600" y="263842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Check status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62600" y="286702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/tasks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62600" y="322897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Get results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62600" y="3457575"/>
            <a:ext cx="25260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/task-output id123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9600" y="4600575"/>
            <a:ext cx="7924800" cy="9525"/>
          </a:xfrm>
          <a:prstGeom prst="rect">
            <a:avLst/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9600" y="4752975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claude.ai/code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62850" y="4752975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04825"/>
            <a:ext cx="342900" cy="247650"/>
          </a:xfrm>
          <a:prstGeom prst="roundRect">
            <a:avLst>
              <a:gd name="adj" fmla="val 1923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6171" y="504825"/>
            <a:ext cx="3497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62050" y="504825"/>
            <a:ext cx="388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Custom Hooks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76285" y="561975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09600" y="126682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Automate Your Workflow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600" y="1647825"/>
            <a:ext cx="3886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Hooks let you run custom scripts before or after Claude actions.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609600" y="2286000"/>
            <a:ext cx="1781175" cy="638175"/>
          </a:xfrm>
          <a:prstGeom prst="roundRect">
            <a:avLst>
              <a:gd name="adj" fmla="val 14925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2409825"/>
            <a:ext cx="1505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PreToolUse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2000" y="2638425"/>
            <a:ext cx="1505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 tool execution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543175" y="2286000"/>
            <a:ext cx="1781175" cy="638175"/>
          </a:xfrm>
          <a:prstGeom prst="roundRect">
            <a:avLst>
              <a:gd name="adj" fmla="val 14925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95575" y="2409825"/>
            <a:ext cx="1505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PostToolUse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95575" y="2638425"/>
            <a:ext cx="1505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 tool execution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09600" y="3076575"/>
            <a:ext cx="1781175" cy="638175"/>
          </a:xfrm>
          <a:prstGeom prst="roundRect">
            <a:avLst>
              <a:gd name="adj" fmla="val 14925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2000" y="3200400"/>
            <a:ext cx="1505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Notification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2000" y="3429000"/>
            <a:ext cx="1505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Alert on events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2543175" y="3076575"/>
            <a:ext cx="1781175" cy="638175"/>
          </a:xfrm>
          <a:prstGeom prst="roundRect">
            <a:avLst>
              <a:gd name="adj" fmla="val 14925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95575" y="3200400"/>
            <a:ext cx="1505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95575" y="3429000"/>
            <a:ext cx="1505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Session end hook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819650" y="1266825"/>
            <a:ext cx="3714750" cy="2543175"/>
          </a:xfrm>
          <a:prstGeom prst="roundRect">
            <a:avLst>
              <a:gd name="adj" fmla="val 5993"/>
            </a:avLst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24450" y="1524000"/>
            <a:ext cx="31672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CONFIGURATION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124450" y="1876425"/>
            <a:ext cx="3105150" cy="16764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14950" y="2000250"/>
            <a:ext cx="27786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settings.json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314950" y="2228850"/>
            <a:ext cx="27786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{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467350" y="2438400"/>
            <a:ext cx="26231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"hooks": {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619750" y="2647950"/>
            <a:ext cx="24677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"PreToolUse": [{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5772150" y="2857500"/>
            <a:ext cx="23122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"matcher": "Edit",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5772150" y="3067050"/>
            <a:ext cx="23122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"command": "./lint"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5619750" y="3276600"/>
            <a:ext cx="24677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}]}}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609600" y="4600575"/>
            <a:ext cx="7924800" cy="9525"/>
          </a:xfrm>
          <a:prstGeom prst="rect">
            <a:avLst/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9600" y="4752975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claude.ai/code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62850" y="4752975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04825"/>
            <a:ext cx="342900" cy="247650"/>
          </a:xfrm>
          <a:prstGeom prst="roundRect">
            <a:avLst>
              <a:gd name="adj" fmla="val 19231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6171" y="504825"/>
            <a:ext cx="3497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62050" y="504825"/>
            <a:ext cx="4857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Permissions &amp; Security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376285" y="561975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09600" y="126682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Granular Access Control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600" y="1647825"/>
            <a:ext cx="3886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Fine-grained permission system ensures Claude only accesses what you allow.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609600" y="2409825"/>
            <a:ext cx="3810000" cy="1238250"/>
          </a:xfrm>
          <a:prstGeom prst="rect">
            <a:avLst/>
          </a:prstGeom>
          <a:noFill/>
          <a:ln/>
        </p:spPr>
        <p:txBody>
          <a:bodyPr wrap="square" lIns="123825" tIns="0" rIns="0" bIns="0" rtlCol="0" anchor="t"/>
          <a:lstStyle/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File system access controls</a:t>
            </a:r>
            <a:endParaRPr lang="en-US" sz="1200" dirty="0"/>
          </a:p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Command execution limits</a:t>
            </a:r>
            <a:endParaRPr lang="en-US" sz="1200" dirty="0"/>
          </a:p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 request filtering</a:t>
            </a:r>
            <a:endParaRPr lang="en-US" sz="1200" dirty="0"/>
          </a:p>
          <a:p>
            <a:pPr algn="l" marL="123825" indent="-123825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Sensitive data protection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19650" y="1266825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Permission Modes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19650" y="1781175"/>
            <a:ext cx="3714750" cy="714375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24450" y="1952625"/>
            <a:ext cx="31672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Default Mode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4450" y="2209800"/>
            <a:ext cx="31672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 before sensitive operations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819650" y="2638425"/>
            <a:ext cx="3714750" cy="714375"/>
          </a:xfrm>
          <a:prstGeom prst="roundRect">
            <a:avLst>
              <a:gd name="adj" fmla="val 13333"/>
            </a:avLst>
          </a:prstGeom>
          <a:solidFill>
            <a:srgbClr val="F5F5F0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24450" y="2809875"/>
            <a:ext cx="31672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Trust Mode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4450" y="3067050"/>
            <a:ext cx="31672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Allow all project operations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819650" y="3495675"/>
            <a:ext cx="3714750" cy="714375"/>
          </a:xfrm>
          <a:prstGeom prst="roundRect">
            <a:avLst>
              <a:gd name="adj" fmla="val 13333"/>
            </a:avLst>
          </a:prstGeom>
          <a:solidFill>
            <a:srgbClr val="F5F5F0"/>
          </a:solidFill>
          <a:ln w="9525">
            <a:solidFill>
              <a:srgbClr val="E5E5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24450" y="3667125"/>
            <a:ext cx="31672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Restricted Mode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4450" y="3924300"/>
            <a:ext cx="31672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Read-only with explicit allows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09600" y="4600575"/>
            <a:ext cx="7924800" cy="9525"/>
          </a:xfrm>
          <a:prstGeom prst="rect">
            <a:avLst/>
          </a:prstGeom>
          <a:solidFill>
            <a:srgbClr val="EEEE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9600" y="4752975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Security First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62850" y="4752975"/>
            <a:ext cx="971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3825" y="1019175"/>
            <a:ext cx="130187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74420" y="1905000"/>
            <a:ext cx="699516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fundamentally changes how developers interact with AI. It's not just an assistant, it's a collaborator.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74420" y="3686175"/>
            <a:ext cx="6995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 Engineering Team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74420" y="3962400"/>
            <a:ext cx="6995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04825"/>
            <a:ext cx="2914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7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Getting Started</a:t>
            </a:r>
            <a:endParaRPr lang="en-US" sz="2775" dirty="0"/>
          </a:p>
        </p:txBody>
      </p:sp>
      <p:sp>
        <p:nvSpPr>
          <p:cNvPr id="3" name="Text 1"/>
          <p:cNvSpPr/>
          <p:nvPr/>
        </p:nvSpPr>
        <p:spPr>
          <a:xfrm>
            <a:off x="8376285" y="609600"/>
            <a:ext cx="291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266825" y="2286000"/>
            <a:ext cx="6610350" cy="28575"/>
          </a:xfrm>
          <a:prstGeom prst="rect">
            <a:avLst/>
          </a:prstGeom>
          <a:solidFill>
            <a:srgbClr val="E5E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66825" y="21336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81742" y="2667000"/>
            <a:ext cx="9035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981742" y="2952750"/>
            <a:ext cx="9035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Install CLI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5345" y="3200400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npm i -g claude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429000" y="21336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43917" y="2667000"/>
            <a:ext cx="9035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3143917" y="2952750"/>
            <a:ext cx="9035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Authenticate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07995" y="3200400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claude login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591175" y="21336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96567" y="2667000"/>
            <a:ext cx="9035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296567" y="2952750"/>
            <a:ext cx="9035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Start Coding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32393" y="3200400"/>
            <a:ext cx="650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claude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7572375" y="21336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77767" y="2667000"/>
            <a:ext cx="9035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7102507" y="2952750"/>
            <a:ext cx="1292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Amazing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277767" y="3200400"/>
            <a:ext cx="9035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Projects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257175" cy="257175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2025" y="638175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2543175"/>
            <a:ext cx="3886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5550" dirty="0"/>
          </a:p>
        </p:txBody>
      </p:sp>
      <p:sp>
        <p:nvSpPr>
          <p:cNvPr id="5" name="Text 3"/>
          <p:cNvSpPr/>
          <p:nvPr/>
        </p:nvSpPr>
        <p:spPr>
          <a:xfrm>
            <a:off x="609600" y="342900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Questions? Let's discuss.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609600" y="42862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Website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9600" y="447675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claude.ai/code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33650" y="4286250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33650" y="447675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docs.anthropic.com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6825" y="4286250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Community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6825" y="4476750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github.com/anthropics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2.0 Seminar</dc:title>
  <dc:subject>PptxGenJS Presentation</dc:subject>
  <dc:creator>Anthropic</dc:creator>
  <cp:lastModifiedBy>Anthropic</cp:lastModifiedBy>
  <cp:revision>1</cp:revision>
  <dcterms:created xsi:type="dcterms:W3CDTF">2026-01-03T17:41:40Z</dcterms:created>
  <dcterms:modified xsi:type="dcterms:W3CDTF">2026-01-03T17:41:40Z</dcterms:modified>
</cp:coreProperties>
</file>