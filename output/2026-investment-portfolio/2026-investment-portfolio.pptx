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57200"/>
            <a:ext cx="1333500" cy="304800"/>
          </a:xfrm>
          <a:prstGeom prst="roundRect">
            <a:avLst>
              <a:gd name="adj" fmla="val 50000"/>
            </a:avLst>
          </a:prstGeom>
          <a:solidFill>
            <a:srgbClr val="1E1E38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265" y="457200"/>
            <a:ext cx="13601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825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INVESTMENT 2026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609600" y="17145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추천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09600" y="24765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포트폴리오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09600" y="3429000"/>
            <a:ext cx="582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자산운용사 전망 기반 자산배분 전략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77000" y="1524000"/>
            <a:ext cx="1905000" cy="1905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0" y="1905000"/>
            <a:ext cx="1143000" cy="1143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6FF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45720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January 2026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629400" y="45720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Strategy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952500" cy="26670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0075" y="4572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8086725" y="4953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047750"/>
            <a:ext cx="3886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714500"/>
            <a:ext cx="5829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17907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투자 환경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3500" y="20574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매크로 트렌드 및 시장 전망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2476500"/>
            <a:ext cx="5829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33500" y="25527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자산배분 전략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33500" y="28194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60/40+ 포트폴리오 모델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600" y="3238500"/>
            <a:ext cx="5829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33500" y="33147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유망 섹터 &amp; ETF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33500" y="35814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AI, 반도체, 배당주 중심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4000500"/>
            <a:ext cx="5829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33500" y="40767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관리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33500" y="43434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분산투자와 리밸런싱 전략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38750" y="1714500"/>
            <a:ext cx="3333750" cy="2667000"/>
          </a:xfrm>
          <a:prstGeom prst="roundRect">
            <a:avLst>
              <a:gd name="adj" fmla="val 5714"/>
            </a:avLst>
          </a:prstGeom>
          <a:solidFill>
            <a:srgbClr val="1E1E38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19750" y="2000250"/>
            <a:ext cx="2623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19750" y="2381250"/>
            <a:ext cx="262318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BlackRock, Goldman Sachs, J.P. Morgan 등 글로벌 자산운용사의 2026년 전망을 종합하여 제시합니다.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619750" y="3333750"/>
            <a:ext cx="262318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포트폴리오 다각화와 대체투자 전략에 집중합니다.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14573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1905000" cy="28575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5829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투자 환경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38100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매크로 트렌드 및 시장 전망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6725" y="45720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952500" cy="26670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0075" y="4572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MACRO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8086725" y="4953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95250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핵심 투자 키워드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571625"/>
            <a:ext cx="2476500" cy="1381125"/>
          </a:xfrm>
          <a:prstGeom prst="roundRect">
            <a:avLst>
              <a:gd name="adj" fmla="val 8276"/>
            </a:avLst>
          </a:prstGeom>
          <a:solidFill>
            <a:srgbClr val="1E1E38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Phase 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0100" y="233362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빌드아웃에서 채택 단계로 전환, ROI 증명 필요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33750" y="1571625"/>
            <a:ext cx="2476500" cy="1381125"/>
          </a:xfrm>
          <a:prstGeom prst="roundRect">
            <a:avLst>
              <a:gd name="adj" fmla="val 8276"/>
            </a:avLst>
          </a:prstGeom>
          <a:solidFill>
            <a:srgbClr val="1E1E38"/>
          </a:solidFill>
          <a:ln w="9525">
            <a:solidFill>
              <a:srgbClr val="06FF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24250" y="176212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6.4%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24250" y="233362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60/40 포트폴리오 연 수익률 전망 (J.P. Morgan)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57900" y="1571625"/>
            <a:ext cx="2476500" cy="1381125"/>
          </a:xfrm>
          <a:prstGeom prst="roundRect">
            <a:avLst>
              <a:gd name="adj" fmla="val 8276"/>
            </a:avLst>
          </a:prstGeom>
          <a:solidFill>
            <a:srgbClr val="1E1E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48400" y="176212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$1T+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48400" y="233362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글로벌 반도체 시장 전망 (BofA)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319087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트렌드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00100" y="3505200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Fed 추가 금리 인하 2~3회 예상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0100" y="3743325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미국 주식 밸류에이션 상단 부담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0100" y="3981450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상반기 상승, 하반기 변동성 확대 예상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0100" y="4219575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대체투자(Alternative) 비중 확대 권고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62500" y="319087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유망 지역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4953000" y="3505200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미국: AI 테마 지속, 오버웨이트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53000" y="3743325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일본: 기업 지배구조 개선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53000" y="3981450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신흥국: 실적 기반 선별 투자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3000" y="4219575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한국: KOSPI 3,300~4,000 밴드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14573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1905000" cy="28575"/>
          </a:xfrm>
          <a:prstGeom prst="rect">
            <a:avLst/>
          </a:prstGeom>
          <a:solidFill>
            <a:srgbClr val="06FF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5829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자산배분 전략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38100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60/40+ 포트폴리오 모델과 대체투자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6725" y="45720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43000" cy="266700"/>
          </a:xfrm>
          <a:prstGeom prst="roundRect">
            <a:avLst>
              <a:gd name="adj" fmla="val 14286"/>
            </a:avLst>
          </a:prstGeom>
          <a:solidFill>
            <a:srgbClr val="06FF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8170" y="457200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0C0C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ALLOCATION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8086725" y="4953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95250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자산배분 모델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38112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J.P. Morgan 60/40+ 모델 기반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1809750"/>
            <a:ext cx="3810000" cy="2857500"/>
          </a:xfrm>
          <a:prstGeom prst="roundRect">
            <a:avLst>
              <a:gd name="adj" fmla="val 5333"/>
            </a:avLst>
          </a:prstGeom>
          <a:solidFill>
            <a:srgbClr val="1E1E38">
              <a:alpha val="60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2000250"/>
            <a:ext cx="3429000" cy="476250"/>
          </a:xfrm>
          <a:prstGeom prst="roundRect">
            <a:avLst>
              <a:gd name="adj" fmla="val 16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52500" y="2000250"/>
            <a:ext cx="1943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주식 (ACWI)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9500" y="2000250"/>
            <a:ext cx="4857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0100" y="2571750"/>
            <a:ext cx="2571750" cy="476250"/>
          </a:xfrm>
          <a:prstGeom prst="roundRect">
            <a:avLst>
              <a:gd name="adj" fmla="val 16000"/>
            </a:avLst>
          </a:prstGeom>
          <a:solidFill>
            <a:srgbClr val="06FF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52500" y="2571750"/>
            <a:ext cx="14573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0C0C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채권 (US Agg)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62250" y="2571750"/>
            <a:ext cx="4857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500" b="1" dirty="0">
                <a:solidFill>
                  <a:srgbClr val="0C0C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0100" y="3143250"/>
            <a:ext cx="2571750" cy="476250"/>
          </a:xfrm>
          <a:prstGeom prst="roundRect">
            <a:avLst>
              <a:gd name="adj" fmla="val 16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52500" y="3143250"/>
            <a:ext cx="14573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0C0C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대체투자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62250" y="3143250"/>
            <a:ext cx="4857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500" b="1" dirty="0">
                <a:solidFill>
                  <a:srgbClr val="0C0C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0100" y="3810000"/>
            <a:ext cx="3429000" cy="666750"/>
          </a:xfrm>
          <a:prstGeom prst="roundRect">
            <a:avLst>
              <a:gd name="adj" fmla="val 11429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52500" y="395287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수익률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52500" y="4171950"/>
            <a:ext cx="1457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6.9% / 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667000" y="40767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Sharpe Ratio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25% 개선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62500" y="180975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대체투자 구성 (30%)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62500" y="2190750"/>
            <a:ext cx="3810000" cy="428625"/>
          </a:xfrm>
          <a:prstGeom prst="rect">
            <a:avLst/>
          </a:prstGeom>
          <a:solidFill>
            <a:srgbClr val="1E1E38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76788" y="2190750"/>
            <a:ext cx="0" cy="428625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4900" y="22383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Private Equity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14900" y="2409825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7.5%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62500" y="2714625"/>
            <a:ext cx="3810000" cy="428625"/>
          </a:xfrm>
          <a:prstGeom prst="rect">
            <a:avLst/>
          </a:prstGeom>
          <a:solidFill>
            <a:srgbClr val="1E1E38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76788" y="2714625"/>
            <a:ext cx="0" cy="428625"/>
          </a:xfrm>
          <a:prstGeom prst="line">
            <a:avLst/>
          </a:prstGeom>
          <a:noFill/>
          <a:ln w="28575">
            <a:solidFill>
              <a:srgbClr val="06F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4900" y="27622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부동산 (REITs)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4900" y="2933700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7.5%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62500" y="3238500"/>
            <a:ext cx="3810000" cy="428625"/>
          </a:xfrm>
          <a:prstGeom prst="rect">
            <a:avLst/>
          </a:prstGeom>
          <a:solidFill>
            <a:srgbClr val="1E1E38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76788" y="3238500"/>
            <a:ext cx="0" cy="428625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4900" y="32861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실물자산 (Gold, 원자재)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14900" y="3457575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7.5%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62500" y="3762375"/>
            <a:ext cx="3810000" cy="428625"/>
          </a:xfrm>
          <a:prstGeom prst="rect">
            <a:avLst/>
          </a:prstGeom>
          <a:solidFill>
            <a:srgbClr val="1E1E38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776788" y="3762375"/>
            <a:ext cx="0" cy="428625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4900" y="38100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Private Credit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14900" y="3981450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62500" y="4286250"/>
            <a:ext cx="3810000" cy="428625"/>
          </a:xfrm>
          <a:prstGeom prst="rect">
            <a:avLst/>
          </a:prstGeom>
          <a:solidFill>
            <a:srgbClr val="1E1E38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76788" y="4286250"/>
            <a:ext cx="0" cy="428625"/>
          </a:xfrm>
          <a:prstGeom prst="line">
            <a:avLst/>
          </a:prstGeom>
          <a:noFill/>
          <a:ln w="28575">
            <a:solidFill>
              <a:srgbClr val="F472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4900" y="433387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헤지펀드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14900" y="4505325"/>
            <a:ext cx="1943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3.0%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14573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1905000" cy="2857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5829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유망 섹터 &amp; ETF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38100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AI, 반도체, 배당주 중심 투자 전략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6725" y="45720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952500" cy="266700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0075" y="4572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0C0C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SECTORS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8086725" y="4953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95250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유망 섹터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571625"/>
            <a:ext cx="2571750" cy="1524000"/>
          </a:xfrm>
          <a:prstGeom prst="roundRect">
            <a:avLst>
              <a:gd name="adj" fmla="val 7500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714500"/>
            <a:ext cx="476250" cy="266700"/>
          </a:xfrm>
          <a:prstGeom prst="roundRect">
            <a:avLst>
              <a:gd name="adj" fmla="val 14286"/>
            </a:avLst>
          </a:prstGeom>
          <a:solidFill>
            <a:srgbClr val="8B5CF6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5338" y="1714500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800100" y="2076450"/>
            <a:ext cx="2234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&amp; 반도체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0100" y="2381250"/>
            <a:ext cx="223456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Phase 2 전환, 반도체 $1T 시장 돌파, 빅테크 Cap-Ex 사이클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333750" y="1571625"/>
            <a:ext cx="2571750" cy="1524000"/>
          </a:xfrm>
          <a:prstGeom prst="roundRect">
            <a:avLst>
              <a:gd name="adj" fmla="val 7500"/>
            </a:avLst>
          </a:prstGeom>
          <a:solidFill>
            <a:srgbClr val="06FFA5">
              <a:alpha val="15000"/>
            </a:srgbClr>
          </a:solidFill>
          <a:ln w="9525">
            <a:solidFill>
              <a:srgbClr val="06FF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24250" y="1714500"/>
            <a:ext cx="666750" cy="266700"/>
          </a:xfrm>
          <a:prstGeom prst="roundRect">
            <a:avLst>
              <a:gd name="adj" fmla="val 14286"/>
            </a:avLst>
          </a:prstGeom>
          <a:solidFill>
            <a:srgbClr val="06FFA5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17583" y="1714500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VALUE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524250" y="2076450"/>
            <a:ext cx="2234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스몰캡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4250" y="2381250"/>
            <a:ext cx="223456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밸류에이션 매력적, 실적 모멘텀 보유, 대형주 대비 아웃퍼폼 기대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057900" y="1571625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FBBF24">
              <a:alpha val="15000"/>
            </a:srgbClr>
          </a:solidFill>
          <a:ln w="9525">
            <a:solidFill>
              <a:srgbClr val="FBBF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48400" y="1714500"/>
            <a:ext cx="666750" cy="266700"/>
          </a:xfrm>
          <a:prstGeom prst="roundRect">
            <a:avLst>
              <a:gd name="adj" fmla="val 14286"/>
            </a:avLst>
          </a:prstGeom>
          <a:solidFill>
            <a:srgbClr val="FBBF24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41733" y="1714500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248400" y="2076450"/>
            <a:ext cx="2137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48400" y="2381250"/>
            <a:ext cx="21374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배당성향 개선 기업 선별, 안정적 현금흐름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09600" y="3238500"/>
            <a:ext cx="1905000" cy="1333500"/>
          </a:xfrm>
          <a:prstGeom prst="roundRect">
            <a:avLst>
              <a:gd name="adj" fmla="val 8571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0100" y="340995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원자재 &amp; 금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0100" y="3695700"/>
            <a:ext cx="155448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인플레이션 헤지, 포트폴리오 효율성 개선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67000" y="3238500"/>
            <a:ext cx="1905000" cy="1333500"/>
          </a:xfrm>
          <a:prstGeom prst="roundRect">
            <a:avLst>
              <a:gd name="adj" fmla="val 8571"/>
            </a:avLst>
          </a:prstGeom>
          <a:solidFill>
            <a:srgbClr val="F472B6">
              <a:alpha val="15000"/>
            </a:srgbClr>
          </a:solidFill>
          <a:ln w="9525">
            <a:solidFill>
              <a:srgbClr val="F472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57500" y="340995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 &amp; 전력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857500" y="3695700"/>
            <a:ext cx="155448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데이터센터 전력 수요, 전력망 밸류체인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24400" y="3238500"/>
            <a:ext cx="1905000" cy="1333500"/>
          </a:xfrm>
          <a:prstGeom prst="roundRect">
            <a:avLst>
              <a:gd name="adj" fmla="val 8571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14900" y="340995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바이오/헬스케어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914900" y="3695700"/>
            <a:ext cx="155448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신약개발, 고령화 트렌드 수혜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81800" y="3238500"/>
            <a:ext cx="1762125" cy="133350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72300" y="3409950"/>
            <a:ext cx="140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방산/중공업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972300" y="3695700"/>
            <a:ext cx="140874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조선, 기계, 방산 밸류체인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571500" cy="266700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3885" y="457200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0C0C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ETF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8086725" y="4953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95250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ETF 리스트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524000"/>
            <a:ext cx="7924800" cy="381000"/>
          </a:xfrm>
          <a:prstGeom prst="roundRect">
            <a:avLst>
              <a:gd name="adj" fmla="val 20000"/>
            </a:avLst>
          </a:prstGeom>
          <a:solidFill>
            <a:srgbClr val="8B5CF6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524000"/>
            <a:ext cx="1457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ETF 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81250" y="1524000"/>
            <a:ext cx="971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티커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4250" y="1524000"/>
            <a:ext cx="17487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대상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0" y="1524000"/>
            <a:ext cx="971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77000" y="1524000"/>
            <a:ext cx="1943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1905000"/>
            <a:ext cx="7924800" cy="476250"/>
          </a:xfrm>
          <a:prstGeom prst="rect">
            <a:avLst/>
          </a:prstGeom>
          <a:solidFill>
            <a:srgbClr val="1E1E38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9600" y="2376488"/>
            <a:ext cx="79248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" y="1905000"/>
            <a:ext cx="14573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Vanguard S&amp;P 500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81250" y="1905000"/>
            <a:ext cx="971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24250" y="1905000"/>
            <a:ext cx="17487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75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 대형주 500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334000" y="1905000"/>
            <a:ext cx="971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75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0.03%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477000" y="1905000"/>
            <a:ext cx="1943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초저비용 핵심 자산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" y="2381250"/>
            <a:ext cx="7924800" cy="476250"/>
          </a:xfrm>
          <a:prstGeom prst="rect">
            <a:avLst/>
          </a:prstGeom>
          <a:solidFill>
            <a:srgbClr val="1E1E3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9600" y="2852738"/>
            <a:ext cx="79248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" y="2381250"/>
            <a:ext cx="14573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iShares Tech Sector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81250" y="2381250"/>
            <a:ext cx="971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IGV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4250" y="2381250"/>
            <a:ext cx="17487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75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Tech/AI 확장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334000" y="2381250"/>
            <a:ext cx="971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75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0.40%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477000" y="2381250"/>
            <a:ext cx="1943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테마 광범위 노출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9600" y="2857500"/>
            <a:ext cx="7924800" cy="476250"/>
          </a:xfrm>
          <a:prstGeom prst="rect">
            <a:avLst/>
          </a:prstGeom>
          <a:solidFill>
            <a:srgbClr val="1E1E38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9600" y="3328988"/>
            <a:ext cx="79248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" y="2857500"/>
            <a:ext cx="14573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Vanguard Russell 2000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381250" y="2857500"/>
            <a:ext cx="971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b="1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VTWO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24250" y="2857500"/>
            <a:ext cx="17487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75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 스몰캡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334000" y="2857500"/>
            <a:ext cx="971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75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0.10%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477000" y="2857500"/>
            <a:ext cx="1943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 플레이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9600" y="3333750"/>
            <a:ext cx="7924800" cy="476250"/>
          </a:xfrm>
          <a:prstGeom prst="rect">
            <a:avLst/>
          </a:prstGeom>
          <a:solidFill>
            <a:srgbClr val="1E1E3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09600" y="3805238"/>
            <a:ext cx="79248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" y="3333750"/>
            <a:ext cx="14573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Schwab Dividend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381250" y="3333750"/>
            <a:ext cx="971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524250" y="3333750"/>
            <a:ext cx="17487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75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고배당주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5334000" y="3333750"/>
            <a:ext cx="971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75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0.06%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6477000" y="3333750"/>
            <a:ext cx="1943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인컴 + 퀄리티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9600" y="3810000"/>
            <a:ext cx="7924800" cy="476250"/>
          </a:xfrm>
          <a:prstGeom prst="rect">
            <a:avLst/>
          </a:prstGeom>
          <a:solidFill>
            <a:srgbClr val="1E1E38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09600" y="4281488"/>
            <a:ext cx="79248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0100" y="3810000"/>
            <a:ext cx="14573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Vanguard Total World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381250" y="3810000"/>
            <a:ext cx="971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524250" y="3810000"/>
            <a:ext cx="17487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75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주식 9,900+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5334000" y="3810000"/>
            <a:ext cx="971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75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0.07%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6477000" y="3810000"/>
            <a:ext cx="1943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원스톱 글로벌 분산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9600" y="4286250"/>
            <a:ext cx="7924800" cy="476250"/>
          </a:xfrm>
          <a:prstGeom prst="rect">
            <a:avLst/>
          </a:prstGeom>
          <a:solidFill>
            <a:srgbClr val="1E1E3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00100" y="4286250"/>
            <a:ext cx="14573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SPDR Gold Shares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381250" y="4286250"/>
            <a:ext cx="971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524250" y="4286250"/>
            <a:ext cx="174879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75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 현물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5334000" y="4286250"/>
            <a:ext cx="971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75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0.40%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6477000" y="4286250"/>
            <a:ext cx="1943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인플레 헤지, 안전자산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8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714500"/>
            <a:ext cx="14573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600" y="2762250"/>
            <a:ext cx="1905000" cy="28575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5829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관리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38100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분산투자와 리밸런싱 전략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6725" y="45720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571500" cy="266700"/>
          </a:xfrm>
          <a:prstGeom prst="roundRect">
            <a:avLst>
              <a:gd name="adj" fmla="val 14286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3885" y="457200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825" b="1" dirty="0">
                <a:solidFill>
                  <a:srgbClr val="0C0C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8086725" y="49530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952500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리스크 관리 전략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571625"/>
            <a:ext cx="4000500" cy="1428750"/>
          </a:xfrm>
          <a:prstGeom prst="roundRect">
            <a:avLst>
              <a:gd name="adj" fmla="val 8000"/>
            </a:avLst>
          </a:prstGeom>
          <a:solidFill>
            <a:srgbClr val="F87171">
              <a:alpha val="10000"/>
            </a:srgbClr>
          </a:solidFill>
          <a:ln w="9525">
            <a:solidFill>
              <a:srgbClr val="F871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714500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주의해야 할 리스크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0100" y="2047875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미국 주식 밸류에이션 상단 부담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286000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하반기 변동성 확대 가능성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524125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금리 불확실성 지속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2762250"/>
            <a:ext cx="3691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AI 기대치 대비 실적 부진 가능성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62500" y="1571625"/>
            <a:ext cx="3810000" cy="1428750"/>
          </a:xfrm>
          <a:prstGeom prst="roundRect">
            <a:avLst>
              <a:gd name="adj" fmla="val 8000"/>
            </a:avLst>
          </a:prstGeom>
          <a:solidFill>
            <a:srgbClr val="06FFA5">
              <a:alpha val="10000"/>
            </a:srgbClr>
          </a:solidFill>
          <a:ln w="9525">
            <a:solidFill>
              <a:srgbClr val="06FF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3000" y="1714500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전략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53000" y="204787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정기 리밸런싱 (분기/반기)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3000" y="228600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DCA (적립식 투자) 원칙 유지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3000" y="2524125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대체투자로 분산 효과 확보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3000" y="2762250"/>
            <a:ext cx="34975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채권으로 포트폴리오 안정성 확보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600" y="3238500"/>
            <a:ext cx="5829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원칙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600" y="3667125"/>
            <a:ext cx="1905000" cy="952500"/>
          </a:xfrm>
          <a:prstGeom prst="roundRect">
            <a:avLst>
              <a:gd name="adj" fmla="val 12000"/>
            </a:avLst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0100" y="385762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00100" y="423862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 분산투자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67000" y="3667125"/>
            <a:ext cx="1905000" cy="952500"/>
          </a:xfrm>
          <a:prstGeom prst="roundRect">
            <a:avLst>
              <a:gd name="adj" fmla="val 12000"/>
            </a:avLst>
          </a:prstGeom>
          <a:solidFill>
            <a:srgbClr val="06FFA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57500" y="385762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FF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2857500" y="423862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적립식 투자 (DCA)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4400" y="3667125"/>
            <a:ext cx="1905000" cy="952500"/>
          </a:xfrm>
          <a:prstGeom prst="roundRect">
            <a:avLst>
              <a:gd name="adj" fmla="val 12000"/>
            </a:avLst>
          </a:prstGeom>
          <a:solidFill>
            <a:srgbClr val="00D4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14900" y="385762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4914900" y="423862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리밸런싱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81800" y="3667125"/>
            <a:ext cx="1762125" cy="952500"/>
          </a:xfrm>
          <a:prstGeom prst="roundRect">
            <a:avLst>
              <a:gd name="adj" fmla="val 12000"/>
            </a:avLst>
          </a:prstGeom>
          <a:solidFill>
            <a:srgbClr val="FBBF2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972300" y="3857625"/>
            <a:ext cx="140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6972300" y="4238625"/>
            <a:ext cx="140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최소화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352" y="1524000"/>
            <a:ext cx="80832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Summary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3619500" y="2333625"/>
            <a:ext cx="1905000" cy="28575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2667000"/>
            <a:ext cx="6858000" cy="1714500"/>
          </a:xfrm>
          <a:prstGeom prst="roundRect">
            <a:avLst>
              <a:gd name="adj" fmla="val 8889"/>
            </a:avLst>
          </a:prstGeom>
          <a:solidFill>
            <a:srgbClr val="1E1E38">
              <a:alpha val="50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28750" y="2905125"/>
            <a:ext cx="6412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자산배분: 주식 40% + 채권 30% + 대체투자 30% (60/40+ 모델)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28750" y="3238500"/>
            <a:ext cx="6412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유망 섹터: AI/반도체, 스몰캡, 배당주, 인프라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28750" y="3571875"/>
            <a:ext cx="6412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핵심 ETF: VOO, IGV, VTWO, SCHD, VT, GLD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8750" y="3905250"/>
            <a:ext cx="6412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기대 수익률: 연 6.4~6.9% (J.P. Morgan 전망)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461962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Sources: BlackRock, Goldman Sachs, J.P. Morgan, Morningstar, VanEck, KB자산운용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115175" y="4619625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06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추천 투자 포트폴리오</dc:title>
  <dc:subject>2026 Investment Portfolio Recommendations</dc:subject>
  <dc:creator>Investment Strategy</dc:creator>
  <cp:lastModifiedBy>Investment Strategy</cp:lastModifiedBy>
  <cp:revision>1</cp:revision>
  <dcterms:created xsi:type="dcterms:W3CDTF">2026-01-04T02:59:34Z</dcterms:created>
  <dcterms:modified xsi:type="dcterms:W3CDTF">2026-01-04T02:59:34Z</dcterms:modified>
</cp:coreProperties>
</file>