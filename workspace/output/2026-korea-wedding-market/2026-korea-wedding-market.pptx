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8A0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572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E8A0B0">
              <a:alpha val="15000"/>
            </a:srgbClr>
          </a:solidFill>
          <a:ln w="9525">
            <a:solidFill>
              <a:srgbClr val="E8A0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554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900" b="1" dirty="0">
                <a:solidFill>
                  <a:srgbClr val="E8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WEDDING MARKET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1714500"/>
            <a:ext cx="58293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09600" y="2381250"/>
            <a:ext cx="6800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대한민국 결혼 시장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609600" y="3143250"/>
            <a:ext cx="5829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혼인 트렌드, 비용 분석, 웨딩테크 전망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3619500"/>
            <a:ext cx="1143000" cy="28575"/>
          </a:xfrm>
          <a:prstGeom prst="rect">
            <a:avLst/>
          </a:prstGeom>
          <a:solidFill>
            <a:srgbClr val="E8A0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67500" y="1333500"/>
            <a:ext cx="1905000" cy="1905000"/>
          </a:xfrm>
          <a:prstGeom prst="roundRect">
            <a:avLst>
              <a:gd name="adj" fmla="val 48000"/>
            </a:avLst>
          </a:prstGeom>
          <a:solidFill>
            <a:srgbClr val="E8A0B0">
              <a:alpha val="10000"/>
            </a:srgbClr>
          </a:solidFill>
          <a:ln w="9525">
            <a:solidFill>
              <a:srgbClr val="E8A0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0" y="2667000"/>
            <a:ext cx="1143000" cy="1143000"/>
          </a:xfrm>
          <a:prstGeom prst="roundRect">
            <a:avLst>
              <a:gd name="adj" fmla="val 80000"/>
            </a:avLst>
          </a:prstGeom>
          <a:solidFill>
            <a:srgbClr val="B48CC8">
              <a:alpha val="10000"/>
            </a:srgbClr>
          </a:solidFill>
          <a:ln w="9525">
            <a:solidFill>
              <a:srgbClr val="B48C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45720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Sources: 통계청, 한국경제, HR코리아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8086725" y="45720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952500" cy="266700"/>
          </a:xfrm>
          <a:prstGeom prst="roundRect">
            <a:avLst>
              <a:gd name="adj" fmla="val 14286"/>
            </a:avLst>
          </a:prstGeom>
          <a:solidFill>
            <a:srgbClr val="E8A0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4572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1A1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047750"/>
            <a:ext cx="3886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714500"/>
            <a:ext cx="5829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17907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혼인 현황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3500" y="20574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혼인 통계 및 미혼율 변화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2476500"/>
            <a:ext cx="5829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48C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33500" y="25527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결혼 비용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3500" y="28194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결혼 비용 및 항목별 분석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600" y="3238500"/>
            <a:ext cx="5829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EC8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33500" y="33147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웨딩 트렌드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33500" y="35814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스몰웨딩, 미니멀웨딩, MZ 트렌드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4000500"/>
            <a:ext cx="5829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C8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33500" y="40767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웨딩테크 &amp; 전망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33500" y="43434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웨딩 플랫폼 및 시장 전망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38750" y="1714500"/>
            <a:ext cx="3333750" cy="2667000"/>
          </a:xfrm>
          <a:prstGeom prst="roundRect">
            <a:avLst>
              <a:gd name="adj" fmla="val 5714"/>
            </a:avLst>
          </a:prstGeom>
          <a:solidFill>
            <a:srgbClr val="252030"/>
          </a:solidFill>
          <a:ln w="9525">
            <a:solidFill>
              <a:srgbClr val="E8A0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19750" y="2000250"/>
            <a:ext cx="2623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19750" y="2381250"/>
            <a:ext cx="262318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혼인건수 22만 2천 건으로 2년 연속 증가세 기록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619750" y="3143250"/>
            <a:ext cx="262318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웨딩 시장 규모 약 20조원, 스몰웨딩/미니멀웨딩 트렌드 확산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1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14573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1905000" cy="28575"/>
          </a:xfrm>
          <a:prstGeom prst="rect">
            <a:avLst/>
          </a:prstGeom>
          <a:solidFill>
            <a:srgbClr val="E8A0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5829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혼인 현황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38100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혼인 통계 및 미혼율 변화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6725" y="45720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762000" cy="266700"/>
          </a:xfrm>
          <a:prstGeom prst="roundRect">
            <a:avLst>
              <a:gd name="adj" fmla="val 14286"/>
            </a:avLst>
          </a:prstGeom>
          <a:solidFill>
            <a:srgbClr val="E8A0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1980" y="457200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1A1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95250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혼인 통계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571625"/>
            <a:ext cx="2476500" cy="1381125"/>
          </a:xfrm>
          <a:prstGeom prst="roundRect">
            <a:avLst>
              <a:gd name="adj" fmla="val 8276"/>
            </a:avLst>
          </a:prstGeom>
          <a:solidFill>
            <a:srgbClr val="252030"/>
          </a:solidFill>
          <a:ln w="9525">
            <a:solidFill>
              <a:srgbClr val="E8A0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8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22.2만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800100" y="23336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혼인건수 (전년대비 +14.8%, 역대 최대 증가율)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33750" y="1571625"/>
            <a:ext cx="2476500" cy="1381125"/>
          </a:xfrm>
          <a:prstGeom prst="roundRect">
            <a:avLst>
              <a:gd name="adj" fmla="val 8276"/>
            </a:avLst>
          </a:prstGeom>
          <a:solidFill>
            <a:srgbClr val="252030"/>
          </a:solidFill>
          <a:ln w="9525">
            <a:solidFill>
              <a:srgbClr val="B48C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24250" y="17621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48C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4.4건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524250" y="23336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조혼인율 (인구 1천명당, +0.6건 증가)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57900" y="1571625"/>
            <a:ext cx="2476500" cy="1381125"/>
          </a:xfrm>
          <a:prstGeom prst="roundRect">
            <a:avLst>
              <a:gd name="adj" fmla="val 8276"/>
            </a:avLst>
          </a:prstGeom>
          <a:solidFill>
            <a:srgbClr val="252030"/>
          </a:solidFill>
          <a:ln w="9525">
            <a:solidFill>
              <a:srgbClr val="7E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48400" y="17621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EC8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33.9/31.6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248400" y="23336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초혼 연령 (남/여, 세)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319087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연령별 미혼율 변화 (2000 → 2024)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00100" y="350520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25~29세: 55.6% → 92.2% (36.6%p 상승)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0100" y="374332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30~34세: 19.5% → 66.8% (3배 이상 증가)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0100" y="39814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40대 남성 미혼율: 3.5% → 23.6%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0100" y="421957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2년 연속 증가 (2010~11년 이후 처음)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62500" y="319087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결혼 의향 조사 (2025)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4953000" y="3505200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결혼 의향 있음: 44% (전년 대비 -4%p)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53000" y="3743325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결혼 의향 없음: 41%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53000" y="3981450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미혼 이유: 경제적 여유 부족 45%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3000" y="4219575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적당한 상대 미발견: 41%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14573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B48C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1905000" cy="28575"/>
          </a:xfrm>
          <a:prstGeom prst="rect">
            <a:avLst/>
          </a:prstGeom>
          <a:solidFill>
            <a:srgbClr val="B48C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5829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결혼 비용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38100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결혼 비용 및 항목별 분석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6725" y="45720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666750" cy="266700"/>
          </a:xfrm>
          <a:prstGeom prst="roundRect">
            <a:avLst>
              <a:gd name="adj" fmla="val 14286"/>
            </a:avLst>
          </a:prstGeom>
          <a:solidFill>
            <a:srgbClr val="B48C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2932" y="457200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1A1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COST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95250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결혼 비용 분석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524000"/>
            <a:ext cx="3810000" cy="1143000"/>
          </a:xfrm>
          <a:prstGeom prst="roundRect">
            <a:avLst>
              <a:gd name="adj" fmla="val 10000"/>
            </a:avLst>
          </a:prstGeom>
          <a:solidFill>
            <a:srgbClr val="252030"/>
          </a:solidFill>
          <a:ln w="9525">
            <a:solidFill>
              <a:srgbClr val="B48C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666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8C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결혼 비용 (신혼집 포함)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1952625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2억 2,500만원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7250" y="1524000"/>
            <a:ext cx="3810000" cy="1143000"/>
          </a:xfrm>
          <a:prstGeom prst="roundRect">
            <a:avLst>
              <a:gd name="adj" fmla="val 10000"/>
            </a:avLst>
          </a:prstGeom>
          <a:solidFill>
            <a:srgbClr val="252030"/>
          </a:solidFill>
          <a:ln w="9525">
            <a:solidFill>
              <a:srgbClr val="E8A0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0" y="1666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결혼식만 준비 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57750" y="1952625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3,000~4,000만원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9600" y="28575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항목별 평균 비용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238500"/>
            <a:ext cx="1905000" cy="857250"/>
          </a:xfrm>
          <a:prstGeom prst="roundRect">
            <a:avLst>
              <a:gd name="adj" fmla="val 8889"/>
            </a:avLst>
          </a:prstGeom>
          <a:solidFill>
            <a:srgbClr val="E8A0B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38137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웨딩홀 대관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00100" y="36195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1,283만원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67000" y="3238500"/>
            <a:ext cx="1905000" cy="857250"/>
          </a:xfrm>
          <a:prstGeom prst="roundRect">
            <a:avLst>
              <a:gd name="adj" fmla="val 8889"/>
            </a:avLst>
          </a:prstGeom>
          <a:solidFill>
            <a:srgbClr val="B48CC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57500" y="338137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B48C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스드메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857500" y="36195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479만원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24400" y="3238500"/>
            <a:ext cx="1905000" cy="857250"/>
          </a:xfrm>
          <a:prstGeom prst="roundRect">
            <a:avLst>
              <a:gd name="adj" fmla="val 8889"/>
            </a:avLst>
          </a:prstGeom>
          <a:solidFill>
            <a:srgbClr val="7EC8C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4900" y="338137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7EC8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혼수 준비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914900" y="36195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2,615만원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81800" y="3238500"/>
            <a:ext cx="1762125" cy="857250"/>
          </a:xfrm>
          <a:prstGeom prst="roundRect">
            <a:avLst>
              <a:gd name="adj" fmla="val 8889"/>
            </a:avLst>
          </a:prstGeom>
          <a:solidFill>
            <a:srgbClr val="F0C87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72300" y="3381375"/>
            <a:ext cx="14087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0C8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신혼여행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972300" y="3619500"/>
            <a:ext cx="14087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300~500만원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9600" y="428625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지역별 격차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9600" y="455295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웨딩홀+스드메 평균 3,336만원 (경상도의 3배)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762500" y="455295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지방 중소도시 1,000만원대 초중반 가능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20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14573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7EC8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1905000" cy="28575"/>
          </a:xfrm>
          <a:prstGeom prst="rect">
            <a:avLst/>
          </a:prstGeom>
          <a:solidFill>
            <a:srgbClr val="7EC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5829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웨딩 트렌드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38100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스몰웨딩, 미니멀웨딩, MZ 트렌드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6725" y="45720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762000" cy="266700"/>
          </a:xfrm>
          <a:prstGeom prst="roundRect">
            <a:avLst>
              <a:gd name="adj" fmla="val 14286"/>
            </a:avLst>
          </a:prstGeom>
          <a:solidFill>
            <a:srgbClr val="7EC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1980" y="457200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1A1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TREND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95250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2025-2026 웨딩 트렌드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571625"/>
            <a:ext cx="2571750" cy="1476375"/>
          </a:xfrm>
          <a:prstGeom prst="roundRect">
            <a:avLst>
              <a:gd name="adj" fmla="val 7742"/>
            </a:avLst>
          </a:prstGeom>
          <a:solidFill>
            <a:srgbClr val="7EC8C8">
              <a:alpha val="10000"/>
            </a:srgbClr>
          </a:solidFill>
          <a:ln w="9525">
            <a:solidFill>
              <a:srgbClr val="7E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714500"/>
            <a:ext cx="666750" cy="228600"/>
          </a:xfrm>
          <a:prstGeom prst="roundRect">
            <a:avLst>
              <a:gd name="adj" fmla="val 16667"/>
            </a:avLst>
          </a:prstGeom>
          <a:solidFill>
            <a:srgbClr val="7EC8C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3433" y="1714500"/>
            <a:ext cx="68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50" b="1" dirty="0">
                <a:solidFill>
                  <a:srgbClr val="7EC8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00100" y="2038350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미니멀 웨딩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0100" y="2362200"/>
            <a:ext cx="223456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본질적 가치에 집중, 성대한 결혼식 → 두 사람의 사랑에 집중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3750" y="1571625"/>
            <a:ext cx="2571750" cy="1476375"/>
          </a:xfrm>
          <a:prstGeom prst="roundRect">
            <a:avLst>
              <a:gd name="adj" fmla="val 7742"/>
            </a:avLst>
          </a:prstGeom>
          <a:solidFill>
            <a:srgbClr val="E8A0B0">
              <a:alpha val="10000"/>
            </a:srgbClr>
          </a:solidFill>
          <a:ln w="9525">
            <a:solidFill>
              <a:srgbClr val="E8A0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24250" y="1714500"/>
            <a:ext cx="476250" cy="228600"/>
          </a:xfrm>
          <a:prstGeom prst="roundRect">
            <a:avLst>
              <a:gd name="adj" fmla="val 16667"/>
            </a:avLst>
          </a:prstGeom>
          <a:solidFill>
            <a:srgbClr val="E8A0B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19487" y="17145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50" b="1" dirty="0">
                <a:solidFill>
                  <a:srgbClr val="E8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524250" y="2038350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스몰웨딩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4250" y="2362200"/>
            <a:ext cx="223456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하우스웨딩, 셀프웨딩, 프라이빗 웨딩홀 인기 상승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57900" y="1571625"/>
            <a:ext cx="2476500" cy="1476375"/>
          </a:xfrm>
          <a:prstGeom prst="roundRect">
            <a:avLst>
              <a:gd name="adj" fmla="val 7742"/>
            </a:avLst>
          </a:prstGeom>
          <a:solidFill>
            <a:srgbClr val="B48CC8">
              <a:alpha val="10000"/>
            </a:srgbClr>
          </a:solidFill>
          <a:ln w="9525">
            <a:solidFill>
              <a:srgbClr val="B48C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8400" y="1714500"/>
            <a:ext cx="476250" cy="228600"/>
          </a:xfrm>
          <a:prstGeom prst="roundRect">
            <a:avLst>
              <a:gd name="adj" fmla="val 16667"/>
            </a:avLst>
          </a:prstGeom>
          <a:solidFill>
            <a:srgbClr val="B48CC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43638" y="17145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50" b="1" dirty="0">
                <a:solidFill>
                  <a:srgbClr val="B48C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248400" y="2038350"/>
            <a:ext cx="2137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커스터마이징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48400" y="2362200"/>
            <a:ext cx="213741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결혼식 연출, 플라워/디스플레이 직접 선택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9600" y="3190875"/>
            <a:ext cx="1905000" cy="1095375"/>
          </a:xfrm>
          <a:prstGeom prst="roundRect">
            <a:avLst>
              <a:gd name="adj" fmla="val 10435"/>
            </a:avLst>
          </a:prstGeom>
          <a:solidFill>
            <a:srgbClr val="F0C878">
              <a:alpha val="10000"/>
            </a:srgbClr>
          </a:solidFill>
          <a:ln w="9525">
            <a:solidFill>
              <a:srgbClr val="F0C87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0100" y="33813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실용세대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0100" y="3667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FLEX 종말, 가성비/실속 중시하는 MZ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67000" y="3190875"/>
            <a:ext cx="1905000" cy="1095375"/>
          </a:xfrm>
          <a:prstGeom prst="roundRect">
            <a:avLst>
              <a:gd name="adj" fmla="val 10435"/>
            </a:avLst>
          </a:prstGeom>
          <a:solidFill>
            <a:srgbClr val="E8A0B0">
              <a:alpha val="10000"/>
            </a:srgbClr>
          </a:solidFill>
          <a:ln w="9525">
            <a:solidFill>
              <a:srgbClr val="E8A0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57500" y="33813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 웨딩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57500" y="3667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하와이, 발리, 유럽 성 등 이국적 로케이션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24400" y="3190875"/>
            <a:ext cx="1905000" cy="1095375"/>
          </a:xfrm>
          <a:prstGeom prst="roundRect">
            <a:avLst>
              <a:gd name="adj" fmla="val 10435"/>
            </a:avLst>
          </a:prstGeom>
          <a:solidFill>
            <a:srgbClr val="7EC8C8">
              <a:alpha val="10000"/>
            </a:srgbClr>
          </a:solidFill>
          <a:ln w="9525">
            <a:solidFill>
              <a:srgbClr val="7E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4900" y="33813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효율화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4900" y="3667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평일/일요일 할인, 비수기 활용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81800" y="3190875"/>
            <a:ext cx="1762125" cy="1095375"/>
          </a:xfrm>
          <a:prstGeom prst="roundRect">
            <a:avLst>
              <a:gd name="adj" fmla="val 10435"/>
            </a:avLst>
          </a:prstGeom>
          <a:solidFill>
            <a:srgbClr val="B48CC8">
              <a:alpha val="10000"/>
            </a:srgbClr>
          </a:solidFill>
          <a:ln w="9525">
            <a:solidFill>
              <a:srgbClr val="B48C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72300" y="3381375"/>
            <a:ext cx="140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호텔 웨딩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72300" y="3667125"/>
            <a:ext cx="140874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루프톱, 프라이빗 공간, 부티크 웨딩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9600" y="447675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웨딩 액세서리 시장 개인화 제품 비중 45% 전망 / AR 기술 활용 디자인 시뮬레이션 부상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A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14573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0C8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1905000" cy="28575"/>
          </a:xfrm>
          <a:prstGeom prst="rect">
            <a:avLst/>
          </a:prstGeom>
          <a:solidFill>
            <a:srgbClr val="F0C8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5829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웨딩테크 &amp; 전망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38100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웨딩 플랫폼 및 시장 전망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6725" y="45720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952500" cy="266700"/>
          </a:xfrm>
          <a:prstGeom prst="roundRect">
            <a:avLst>
              <a:gd name="adj" fmla="val 14286"/>
            </a:avLst>
          </a:prstGeom>
          <a:solidFill>
            <a:srgbClr val="F0C8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4572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1A1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95250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웨딩테크 플랫폼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524000"/>
            <a:ext cx="4000500" cy="1238250"/>
          </a:xfrm>
          <a:prstGeom prst="roundRect">
            <a:avLst>
              <a:gd name="adj" fmla="val 9231"/>
            </a:avLst>
          </a:prstGeom>
          <a:solidFill>
            <a:srgbClr val="252030"/>
          </a:solidFill>
          <a:ln w="9525">
            <a:solidFill>
              <a:srgbClr val="F0C87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71450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C8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웨딩북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" y="2019300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20만+, 앱 다운로드 1위, 월 1만명 신규가입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266950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투자금 158억원, 등록 업체 1만개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514600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 기반 거품 없는 결혼 정보 제공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62500" y="1524000"/>
            <a:ext cx="3810000" cy="1238250"/>
          </a:xfrm>
          <a:prstGeom prst="roundRect">
            <a:avLst>
              <a:gd name="adj" fmla="val 9231"/>
            </a:avLst>
          </a:prstGeom>
          <a:solidFill>
            <a:srgbClr val="252030"/>
          </a:solidFill>
          <a:ln w="9525">
            <a:solidFill>
              <a:srgbClr val="7E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0" y="171450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EC8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53000" y="201930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스몰웨딩 전문 플랫폼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953000" y="22669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지능형 디렉팅 서비스 (웨딩플래너 없이 준비)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953000" y="251460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비대칭 해소 목표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" y="2952750"/>
            <a:ext cx="2571750" cy="952500"/>
          </a:xfrm>
          <a:prstGeom prst="roundRect">
            <a:avLst>
              <a:gd name="adj" fmla="val 12000"/>
            </a:avLst>
          </a:prstGeom>
          <a:solidFill>
            <a:srgbClr val="E8A0B0">
              <a:alpha val="10000"/>
            </a:srgbClr>
          </a:solidFill>
          <a:ln w="9525">
            <a:solidFill>
              <a:srgbClr val="E8A0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0100" y="3143250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메이크마이웨딩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" y="3429000"/>
            <a:ext cx="22345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예비신부 리뷰, 업체태그 기능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3750" y="2952750"/>
            <a:ext cx="2571750" cy="952500"/>
          </a:xfrm>
          <a:prstGeom prst="roundRect">
            <a:avLst>
              <a:gd name="adj" fmla="val 12000"/>
            </a:avLst>
          </a:prstGeom>
          <a:solidFill>
            <a:srgbClr val="B48CC8">
              <a:alpha val="10000"/>
            </a:srgbClr>
          </a:solidFill>
          <a:ln w="9525">
            <a:solidFill>
              <a:srgbClr val="B48C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24250" y="3143250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8C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마이웨딩프렌즈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4250" y="3429000"/>
            <a:ext cx="22345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MZ세대 정보교류, 다운로드 1.5만+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57900" y="2952750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F0C878">
              <a:alpha val="10000"/>
            </a:srgbClr>
          </a:solidFill>
          <a:ln w="9525">
            <a:solidFill>
              <a:srgbClr val="F0C87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48400" y="3143250"/>
            <a:ext cx="213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C8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아이웨딩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48400" y="3429000"/>
            <a:ext cx="2137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웨딩홀 현황, 투명한 가격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9600" y="409575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웨딩 시장 규모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09600" y="43624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현재: 약 20조원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600" y="460057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2050년 전망: 8~10조원 (인구감소/비혼 증가)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62500" y="409575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웨딩 플래닝 시장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4762500" y="43624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2026년: 3,411억 달러 전망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62500" y="460057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아태지역: 989억 달러 (29%)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952500" cy="266700"/>
          </a:xfrm>
          <a:prstGeom prst="roundRect">
            <a:avLst>
              <a:gd name="adj" fmla="val 14286"/>
            </a:avLst>
          </a:prstGeom>
          <a:solidFill>
            <a:srgbClr val="E8A0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4572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1A1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OUTLOOK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95250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결혼 시장 전망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571625"/>
            <a:ext cx="4000500" cy="1619250"/>
          </a:xfrm>
          <a:prstGeom prst="roundRect">
            <a:avLst>
              <a:gd name="adj" fmla="val 7059"/>
            </a:avLst>
          </a:prstGeom>
          <a:solidFill>
            <a:srgbClr val="7EC8C8">
              <a:alpha val="10000"/>
            </a:srgbClr>
          </a:solidFill>
          <a:ln w="9525">
            <a:solidFill>
              <a:srgbClr val="7E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714500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EC8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긍정적 요인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0100" y="2047875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코로나19 기저효과로 혼인 반등 지속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286000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30대 초반 인구 증가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524125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정부 결혼자금 지원 정책 확대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2762250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웨딩테크 발전으로 비용 투명화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62500" y="1571625"/>
            <a:ext cx="3810000" cy="1619250"/>
          </a:xfrm>
          <a:prstGeom prst="roundRect">
            <a:avLst>
              <a:gd name="adj" fmla="val 7059"/>
            </a:avLst>
          </a:prstGeom>
          <a:solidFill>
            <a:srgbClr val="F87171">
              <a:alpha val="10000"/>
            </a:srgbClr>
          </a:solidFill>
          <a:ln w="9525">
            <a:solidFill>
              <a:srgbClr val="F871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3000" y="1714500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도전 요인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53000" y="20478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높은 결혼 비용 부담 (2억+)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3000" y="22860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결혼 의향 지속 감소 (44%, -4%p)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3000" y="2524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30대 미혼율 66.8% 역대 최고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3000" y="27622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비혼 문화 확산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600" y="3381375"/>
            <a:ext cx="5829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예측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3762375"/>
            <a:ext cx="1905000" cy="904875"/>
          </a:xfrm>
          <a:prstGeom prst="roundRect">
            <a:avLst>
              <a:gd name="adj" fmla="val 12632"/>
            </a:avLst>
          </a:prstGeom>
          <a:solidFill>
            <a:srgbClr val="E8A0B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01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A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20조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00100" y="428625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웨딩 시장 규모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2667000" y="3762375"/>
            <a:ext cx="1905000" cy="904875"/>
          </a:xfrm>
          <a:prstGeom prst="roundRect">
            <a:avLst>
              <a:gd name="adj" fmla="val 12632"/>
            </a:avLst>
          </a:prstGeom>
          <a:solidFill>
            <a:srgbClr val="B48CC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575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8C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2857500" y="428625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개인화 제품 비중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724400" y="3762375"/>
            <a:ext cx="1905000" cy="904875"/>
          </a:xfrm>
          <a:prstGeom prst="roundRect">
            <a:avLst>
              <a:gd name="adj" fmla="val 12632"/>
            </a:avLst>
          </a:prstGeom>
          <a:solidFill>
            <a:srgbClr val="7EC8C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149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EC8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3,411억$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914900" y="428625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글로벌 시장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781800" y="3762375"/>
            <a:ext cx="1762125" cy="904875"/>
          </a:xfrm>
          <a:prstGeom prst="roundRect">
            <a:avLst>
              <a:gd name="adj" fmla="val 12632"/>
            </a:avLst>
          </a:prstGeom>
          <a:solidFill>
            <a:srgbClr val="F0C87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972300" y="3952875"/>
            <a:ext cx="140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C8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8~10조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6972300" y="4286250"/>
            <a:ext cx="14087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2050년 시장 전망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1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E8A0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52" y="1524000"/>
            <a:ext cx="80832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Summary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3619500" y="2333625"/>
            <a:ext cx="1905000" cy="28575"/>
          </a:xfrm>
          <a:prstGeom prst="rect">
            <a:avLst/>
          </a:prstGeom>
          <a:solidFill>
            <a:srgbClr val="E8A0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2667000"/>
            <a:ext cx="6858000" cy="1714500"/>
          </a:xfrm>
          <a:prstGeom prst="roundRect">
            <a:avLst>
              <a:gd name="adj" fmla="val 8889"/>
            </a:avLst>
          </a:prstGeom>
          <a:solidFill>
            <a:srgbClr val="252030">
              <a:alpha val="80000"/>
            </a:srgbClr>
          </a:solidFill>
          <a:ln w="9525">
            <a:solidFill>
              <a:srgbClr val="E8A0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28750" y="2905125"/>
            <a:ext cx="6412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2024년 혼인건수 22.2만 건, 2년 연속 증가 (역대 최대 증가율)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28750" y="3238500"/>
            <a:ext cx="6412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평균 결혼 비용 2억 2,500만원 (결혼식만 3,000~4,000만원)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28750" y="3571875"/>
            <a:ext cx="6412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웨딩 트렌드: 미니멀웨딩, 스몰웨딩, 커스터마이징, 실용주의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8750" y="3905250"/>
            <a:ext cx="6412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0B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웨딩 시장 규모 20조원, 웨딩테크 플랫폼 경쟁 심화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461962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Sources: 통계청, HR코리아, 한국경제, 웨딩북, 공여사들, 디지틀조선일보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115175" y="4619625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808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대한민국 결혼 시장</dc:title>
  <dc:subject>2026 Korea Wedding Market Analysis</dc:subject>
  <dc:creator>Wedding Market Research</dc:creator>
  <cp:lastModifiedBy>Wedding Market Research</cp:lastModifiedBy>
  <cp:revision>1</cp:revision>
  <dcterms:created xsi:type="dcterms:W3CDTF">2026-01-04T03:10:53Z</dcterms:created>
  <dcterms:modified xsi:type="dcterms:W3CDTF">2026-01-04T03:10:53Z</dcterms:modified>
</cp:coreProperties>
</file>