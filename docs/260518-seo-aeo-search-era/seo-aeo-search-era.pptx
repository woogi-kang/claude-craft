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611880" cy="6858000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11880" y="0"/>
            <a:ext cx="91440" cy="6858000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65836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SEARCH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SHIFT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6072" y="199339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828800" y="416052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A9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AEO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143000" y="2743200"/>
            <a:ext cx="1143000" cy="914400"/>
          </a:xfrm>
          <a:prstGeom prst="line">
            <a:avLst/>
          </a:prstGeom>
          <a:noFill/>
          <a:ln w="25400">
            <a:solidFill>
              <a:srgbClr val="E7A9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133856"/>
            <a:ext cx="6355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링크 순위 경쟁에서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답변 채택 경쟁으로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4526280" y="2743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7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SEO -&gt; AEO 검색 시대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3273552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Overviews, AI Mode, ChatGPT search가 만든 검색 운영의 새 기준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26280" y="4279392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BFAF6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90872" y="4443984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52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27448" y="5047488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summary가 있을 때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전통 검색결과 클릭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6537960" y="4279392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BFAF6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02552" y="4443984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39128" y="5047488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summary가 없을 때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전통 검색결과 클릭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8549640" y="4279392"/>
            <a:ext cx="1783080" cy="1188720"/>
          </a:xfrm>
          <a:prstGeom prst="roundRect">
            <a:avLst>
              <a:gd name="adj" fmla="val 6154"/>
            </a:avLst>
          </a:prstGeom>
          <a:solidFill>
            <a:srgbClr val="FBFAF6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14232" y="4443984"/>
            <a:ext cx="1453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57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10%+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750808" y="5047488"/>
            <a:ext cx="1380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Overviews 노출 질의의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Google 사용 증가</a:t>
            </a:r>
            <a:endParaRPr lang="en-US" sz="720" dirty="0"/>
          </a:p>
        </p:txBody>
      </p:sp>
      <p:sp>
        <p:nvSpPr>
          <p:cNvPr id="21" name="Shape 19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6985">
            <a:solidFill>
              <a:srgbClr val="D8D5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644652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Pew Research Center, 2025; Google Search blog, 2025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57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SEO -&gt; AEO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4884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상황 변화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00816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594360"/>
            <a:ext cx="11155680" cy="0"/>
          </a:xfrm>
          <a:prstGeom prst="line">
            <a:avLst/>
          </a:prstGeom>
          <a:noFill/>
          <a:ln w="8890">
            <a:solidFill>
              <a:srgbClr val="D8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결과는 페이지 목록에서 답변 인터페이스로 이동한다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6733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사용자는 더 긴 질문을 하고, 엔진은 여러 검색을 동시에 수행해 답변을 조립한다.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2194560"/>
            <a:ext cx="260604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2194560"/>
            <a:ext cx="73152" cy="2176272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957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457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SEO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914400" y="2724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SERP 순위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200400"/>
            <a:ext cx="21945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키워드별 상위 노출, title/snippet, 백링크, 페이지 품질 신호가 중심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4754880" y="2194560"/>
            <a:ext cx="260604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2194560"/>
            <a:ext cx="73152" cy="2176272"/>
          </a:xfrm>
          <a:prstGeom prst="rect">
            <a:avLst/>
          </a:prstGeom>
          <a:solidFill>
            <a:srgbClr val="E7A928"/>
          </a:solidFill>
          <a:ln w="12700">
            <a:solidFill>
              <a:srgbClr val="E7A92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6048" y="23957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7A9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전환 지점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956048" y="2724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Answer Layer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56048" y="3200400"/>
            <a:ext cx="21945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summary, citation, follow-up, comparison, multimodal context가 사용자 화면의 중심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8796528" y="2194560"/>
            <a:ext cx="2606040" cy="2176272"/>
          </a:xfrm>
          <a:prstGeom prst="roundRect">
            <a:avLst>
              <a:gd name="adj" fmla="val 3361"/>
            </a:avLst>
          </a:prstGeom>
          <a:solidFill>
            <a:srgbClr val="FFFFFF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96528" y="2194560"/>
            <a:ext cx="73152" cy="2176272"/>
          </a:xfrm>
          <a:prstGeom prst="rect">
            <a:avLst/>
          </a:prstGeom>
          <a:solidFill>
            <a:srgbClr val="0E918C"/>
          </a:solidFill>
          <a:ln w="12700">
            <a:solidFill>
              <a:srgbClr val="0E918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97696" y="2395728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E91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AEO 목표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8997696" y="2724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인용 가능한 답변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97696" y="3200400"/>
            <a:ext cx="219456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엔진이 이해하고, 압축하고, 출처로 연결하기 쉬운 지식 단위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822960" y="49377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사용자 질문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43200" y="49377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링크 목록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663440" y="4937760"/>
            <a:ext cx="2240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조립한 답변 + 출처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406640" y="493776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후속 질문/행동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601200" y="49377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전환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115568" y="5321808"/>
            <a:ext cx="292608" cy="292608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35608" y="5468112"/>
            <a:ext cx="1609344" cy="0"/>
          </a:xfrm>
          <a:prstGeom prst="line">
            <a:avLst/>
          </a:prstGeom>
          <a:noFill/>
          <a:ln w="19050">
            <a:solidFill>
              <a:srgbClr val="D8D5C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08960" y="5321808"/>
            <a:ext cx="292608" cy="292608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29000" y="5468112"/>
            <a:ext cx="1947672" cy="0"/>
          </a:xfrm>
          <a:prstGeom prst="line">
            <a:avLst/>
          </a:prstGeom>
          <a:noFill/>
          <a:ln w="19050">
            <a:solidFill>
              <a:srgbClr val="D8D5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40680" y="5321808"/>
            <a:ext cx="292608" cy="292608"/>
          </a:xfrm>
          <a:prstGeom prst="ellipse">
            <a:avLst/>
          </a:prstGeom>
          <a:solidFill>
            <a:srgbClr val="E7A928"/>
          </a:solidFill>
          <a:ln w="12700">
            <a:solidFill>
              <a:srgbClr val="E7A92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60720" y="5468112"/>
            <a:ext cx="1993392" cy="0"/>
          </a:xfrm>
          <a:prstGeom prst="line">
            <a:avLst/>
          </a:prstGeom>
          <a:noFill/>
          <a:ln w="19050">
            <a:solidFill>
              <a:srgbClr val="D8D5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18120" y="5321808"/>
            <a:ext cx="292608" cy="292608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8160" y="5468112"/>
            <a:ext cx="1627632" cy="0"/>
          </a:xfrm>
          <a:prstGeom prst="line">
            <a:avLst/>
          </a:prstGeom>
          <a:noFill/>
          <a:ln w="19050">
            <a:solidFill>
              <a:srgbClr val="D8D5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829800" y="5321808"/>
            <a:ext cx="292608" cy="292608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3232" y="5715000"/>
            <a:ext cx="73152" cy="640080"/>
          </a:xfrm>
          <a:prstGeom prst="rect">
            <a:avLst/>
          </a:prstGeom>
          <a:solidFill>
            <a:srgbClr val="0E918C"/>
          </a:solidFill>
          <a:ln w="12700">
            <a:solidFill>
              <a:srgbClr val="0E918C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" y="573328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AEO의 실무 과제는 '검색엔진이 찾는 페이지'를 넘어 '답변 엔진이 선택하는 근거'를 만드는 것이다.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6985">
            <a:solidFill>
              <a:srgbClr val="D8D5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644652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Google Search blog, AI Mode posts, 2025; OpenAI, Introducing ChatGPT search, 2024/2025 update</a:t>
            </a:r>
            <a:endParaRPr lang="en-US" sz="6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57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SEO -&gt; AEO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4884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행동 변화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00816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594360"/>
            <a:ext cx="11155680" cy="0"/>
          </a:xfrm>
          <a:prstGeom prst="line">
            <a:avLst/>
          </a:prstGeom>
          <a:noFill/>
          <a:ln w="8890">
            <a:solidFill>
              <a:srgbClr val="D8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클릭은 줄고, 답변 안에서의 존재감이 중요해진다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6733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summary가 나타나는 검색은 사용자의 다음 행동을 바꾼다.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1993392"/>
            <a:ext cx="717804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26771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Google 검색 후 다음 행동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749040" y="230428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Pew Research Center, 900명 U.S. adults, 2025년 3월 브라우징 데이터</a:t>
            </a:r>
            <a:endParaRPr lang="en-US" sz="660" dirty="0"/>
          </a:p>
        </p:txBody>
      </p:sp>
      <p:sp>
        <p:nvSpPr>
          <p:cNvPr id="12" name="Text 10"/>
          <p:cNvSpPr/>
          <p:nvPr/>
        </p:nvSpPr>
        <p:spPr>
          <a:xfrm>
            <a:off x="1051560" y="283464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전통 검색결과 클릭: AI summary 있음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3200400" y="2862072"/>
            <a:ext cx="3931920" cy="146304"/>
          </a:xfrm>
          <a:prstGeom prst="rect">
            <a:avLst/>
          </a:prstGeom>
          <a:solidFill>
            <a:srgbClr val="ECE8DE"/>
          </a:solidFill>
          <a:ln w="12700">
            <a:solidFill>
              <a:srgbClr val="ECE8DE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2862072"/>
            <a:ext cx="1048512" cy="146304"/>
          </a:xfrm>
          <a:prstGeom prst="rect">
            <a:avLst/>
          </a:prstGeom>
          <a:solidFill>
            <a:srgbClr val="D4524C"/>
          </a:solidFill>
          <a:ln w="12700">
            <a:solidFill>
              <a:srgbClr val="D4524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51192" y="28163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D4524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8%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1051560" y="3063240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summary가 있는 방문 기준</a:t>
            </a:r>
            <a:endParaRPr lang="en-US" sz="640" dirty="0"/>
          </a:p>
        </p:txBody>
      </p:sp>
      <p:sp>
        <p:nvSpPr>
          <p:cNvPr id="17" name="Text 15"/>
          <p:cNvSpPr/>
          <p:nvPr/>
        </p:nvSpPr>
        <p:spPr>
          <a:xfrm>
            <a:off x="1051560" y="356616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전통 검색결과 클릭: AI summary 없음</a:t>
            </a:r>
            <a:endParaRPr lang="en-US" sz="830" dirty="0"/>
          </a:p>
        </p:txBody>
      </p:sp>
      <p:sp>
        <p:nvSpPr>
          <p:cNvPr id="18" name="Shape 16"/>
          <p:cNvSpPr/>
          <p:nvPr/>
        </p:nvSpPr>
        <p:spPr>
          <a:xfrm>
            <a:off x="3200400" y="3593592"/>
            <a:ext cx="3931920" cy="146304"/>
          </a:xfrm>
          <a:prstGeom prst="rect">
            <a:avLst/>
          </a:prstGeom>
          <a:solidFill>
            <a:srgbClr val="ECE8DE"/>
          </a:solidFill>
          <a:ln w="12700">
            <a:solidFill>
              <a:srgbClr val="ECE8DE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3593592"/>
            <a:ext cx="1965960" cy="146304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51192" y="35478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E8B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15%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1051560" y="3794760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전통 검색결과만 있는 방문 기준</a:t>
            </a:r>
            <a:endParaRPr lang="en-US" sz="640" dirty="0"/>
          </a:p>
        </p:txBody>
      </p:sp>
      <p:sp>
        <p:nvSpPr>
          <p:cNvPr id="22" name="Text 20"/>
          <p:cNvSpPr/>
          <p:nvPr/>
        </p:nvSpPr>
        <p:spPr>
          <a:xfrm>
            <a:off x="1051560" y="429768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summary 안의 출처 링크 클릭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3200400" y="4325112"/>
            <a:ext cx="3931920" cy="146304"/>
          </a:xfrm>
          <a:prstGeom prst="rect">
            <a:avLst/>
          </a:prstGeom>
          <a:solidFill>
            <a:srgbClr val="ECE8DE"/>
          </a:solidFill>
          <a:ln w="12700">
            <a:solidFill>
              <a:srgbClr val="ECE8DE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4325112"/>
            <a:ext cx="131064" cy="146304"/>
          </a:xfrm>
          <a:prstGeom prst="rect">
            <a:avLst/>
          </a:prstGeom>
          <a:solidFill>
            <a:srgbClr val="E7A928"/>
          </a:solidFill>
          <a:ln w="12700">
            <a:solidFill>
              <a:srgbClr val="E7A92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251192" y="427939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E7A9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1%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1051560" y="4526280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summary가 있는 방문 중 직접 출처 클릭</a:t>
            </a:r>
            <a:endParaRPr lang="en-US" sz="640" dirty="0"/>
          </a:p>
        </p:txBody>
      </p:sp>
      <p:sp>
        <p:nvSpPr>
          <p:cNvPr id="27" name="Text 25"/>
          <p:cNvSpPr/>
          <p:nvPr/>
        </p:nvSpPr>
        <p:spPr>
          <a:xfrm>
            <a:off x="1051560" y="50292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후 세션 종료: AI summary 있음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3200400" y="5056632"/>
            <a:ext cx="3931920" cy="146304"/>
          </a:xfrm>
          <a:prstGeom prst="rect">
            <a:avLst/>
          </a:prstGeom>
          <a:solidFill>
            <a:srgbClr val="ECE8DE"/>
          </a:solidFill>
          <a:ln w="12700">
            <a:solidFill>
              <a:srgbClr val="ECE8DE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5056632"/>
            <a:ext cx="3407664" cy="146304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51192" y="501091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457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26%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1051560" y="5257800"/>
            <a:ext cx="5943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summary가 있는 페이지에서 세션 종료</a:t>
            </a:r>
            <a:endParaRPr lang="en-US" sz="640" dirty="0"/>
          </a:p>
        </p:txBody>
      </p:sp>
      <p:sp>
        <p:nvSpPr>
          <p:cNvPr id="32" name="Shape 30"/>
          <p:cNvSpPr/>
          <p:nvPr/>
        </p:nvSpPr>
        <p:spPr>
          <a:xfrm>
            <a:off x="8321040" y="1993392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BFAF6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85632" y="2157984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57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58%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8522208" y="2761488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조사 대상 중 2025년 3월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summary 노출 경험</a:t>
            </a:r>
            <a:endParaRPr lang="en-US" sz="720" dirty="0"/>
          </a:p>
        </p:txBody>
      </p:sp>
      <p:sp>
        <p:nvSpPr>
          <p:cNvPr id="35" name="Shape 33"/>
          <p:cNvSpPr/>
          <p:nvPr/>
        </p:nvSpPr>
        <p:spPr>
          <a:xfrm>
            <a:off x="9966960" y="1993392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BFAF6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131552" y="2157984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91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18%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0168128" y="2761488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데이터셋 내 Google 검색 중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summary 생성 비중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8321040" y="3401568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BFAF6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85632" y="3566160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7A9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53%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8522208" y="4169664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10단어 이상 검색에서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summary 생성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9966960" y="3401568"/>
            <a:ext cx="1417320" cy="1051560"/>
          </a:xfrm>
          <a:prstGeom prst="roundRect">
            <a:avLst>
              <a:gd name="adj" fmla="val 6957"/>
            </a:avLst>
          </a:prstGeom>
          <a:solidFill>
            <a:srgbClr val="FBFAF6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131552" y="3566160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8B5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60%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10168128" y="4169664"/>
            <a:ext cx="1014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의문사로 시작한 검색에서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summary 생성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8321040" y="4974336"/>
            <a:ext cx="73152" cy="640080"/>
          </a:xfrm>
          <a:prstGeom prst="rect">
            <a:avLst/>
          </a:prstGeom>
          <a:solidFill>
            <a:srgbClr val="D4524C"/>
          </a:solidFill>
          <a:ln w="12700">
            <a:solidFill>
              <a:srgbClr val="D4524C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03920" y="4992624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의미: '방문자 수'만 최적화하면 브랜드가 답변 안에서 사라지는 위험을 놓친다.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6985">
            <a:solidFill>
              <a:srgbClr val="D8D5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644652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Source: Pew Research Center, 'Google users are less likely to click on links when an AI summary appears in the results', Jul 22 2025</a:t>
            </a:r>
            <a:endParaRPr lang="en-US" sz="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57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SEO -&gt; AEO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4884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개념 정리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00816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594360"/>
            <a:ext cx="11155680" cy="0"/>
          </a:xfrm>
          <a:prstGeom prst="line">
            <a:avLst/>
          </a:prstGeom>
          <a:noFill/>
          <a:ln w="8890">
            <a:solidFill>
              <a:srgbClr val="D8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SEO와 AEO는 대체 관계가 아니라 레이어 관계다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6733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SEO 기반 위에 답변 엔진이 읽을 수 있는 구조를 얹는다.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1828800"/>
            <a:ext cx="10771632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2057400"/>
            <a:ext cx="1188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2457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구분</a:t>
            </a:r>
            <a:endParaRPr lang="en-US" sz="860" dirty="0"/>
          </a:p>
        </p:txBody>
      </p:sp>
      <p:sp>
        <p:nvSpPr>
          <p:cNvPr id="11" name="Text 9"/>
          <p:cNvSpPr/>
          <p:nvPr/>
        </p:nvSpPr>
        <p:spPr>
          <a:xfrm>
            <a:off x="2542032" y="2057400"/>
            <a:ext cx="4023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2457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SEO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7022592" y="2057400"/>
            <a:ext cx="4069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0E91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AEO</a:t>
            </a:r>
            <a:endParaRPr lang="en-US" sz="860" dirty="0"/>
          </a:p>
        </p:txBody>
      </p:sp>
      <p:sp>
        <p:nvSpPr>
          <p:cNvPr id="13" name="Shape 11"/>
          <p:cNvSpPr/>
          <p:nvPr/>
        </p:nvSpPr>
        <p:spPr>
          <a:xfrm>
            <a:off x="896112" y="2450592"/>
            <a:ext cx="10405872" cy="0"/>
          </a:xfrm>
          <a:prstGeom prst="line">
            <a:avLst/>
          </a:prstGeom>
          <a:noFill/>
          <a:ln w="10160">
            <a:solidFill>
              <a:srgbClr val="D8D5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260604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목표</a:t>
            </a:r>
            <a:endParaRPr lang="en-US" sz="840" dirty="0"/>
          </a:p>
        </p:txBody>
      </p:sp>
      <p:sp>
        <p:nvSpPr>
          <p:cNvPr id="15" name="Text 13"/>
          <p:cNvSpPr/>
          <p:nvPr/>
        </p:nvSpPr>
        <p:spPr>
          <a:xfrm>
            <a:off x="2542032" y="260604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결과 상위 노출과 클릭 확보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7022592" y="260604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답변 안에서 언급·인용·추천될 확률 확보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896112" y="3099816"/>
            <a:ext cx="10405872" cy="0"/>
          </a:xfrm>
          <a:prstGeom prst="line">
            <a:avLst/>
          </a:prstGeom>
          <a:noFill/>
          <a:ln w="6350">
            <a:solidFill>
              <a:srgbClr val="EEEA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1832" y="320954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콘텐츠 단위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2542032" y="320954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키워드 타깃 페이지, 카테고리, 블로그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022592" y="320954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질문-답변 블록, 엔티티 설명, 근거 단락, FAQ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896112" y="3703320"/>
            <a:ext cx="10405872" cy="0"/>
          </a:xfrm>
          <a:prstGeom prst="line">
            <a:avLst/>
          </a:prstGeom>
          <a:noFill/>
          <a:ln w="6350">
            <a:solidFill>
              <a:srgbClr val="EEEA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1832" y="381304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기술 신호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2542032" y="38130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크롤링, 색인, 내부링크, Core Web Vitals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7022592" y="381304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구조화 데이터, 출처 명확성, 최신성, entity consistency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896112" y="4306824"/>
            <a:ext cx="10405872" cy="0"/>
          </a:xfrm>
          <a:prstGeom prst="line">
            <a:avLst/>
          </a:prstGeom>
          <a:noFill/>
          <a:ln w="6350">
            <a:solidFill>
              <a:srgbClr val="EEEA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41832" y="44165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성과 지표</a:t>
            </a:r>
            <a:endParaRPr lang="en-US" sz="840" dirty="0"/>
          </a:p>
        </p:txBody>
      </p:sp>
      <p:sp>
        <p:nvSpPr>
          <p:cNvPr id="27" name="Text 25"/>
          <p:cNvSpPr/>
          <p:nvPr/>
        </p:nvSpPr>
        <p:spPr>
          <a:xfrm>
            <a:off x="2542032" y="44165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Rank, CTR, organic sessions, conversion</a:t>
            </a:r>
            <a:endParaRPr lang="en-US" sz="820" dirty="0"/>
          </a:p>
        </p:txBody>
      </p:sp>
      <p:sp>
        <p:nvSpPr>
          <p:cNvPr id="28" name="Text 26"/>
          <p:cNvSpPr/>
          <p:nvPr/>
        </p:nvSpPr>
        <p:spPr>
          <a:xfrm>
            <a:off x="7022592" y="441655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Citation rate, answer coverage, share of answer, assisted conversion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896112" y="4910328"/>
            <a:ext cx="10405872" cy="0"/>
          </a:xfrm>
          <a:prstGeom prst="line">
            <a:avLst/>
          </a:prstGeom>
          <a:noFill/>
          <a:ln w="6350">
            <a:solidFill>
              <a:srgbClr val="EEEA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1832" y="502005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방식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2542032" y="502005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키워드 리서치 -&gt; 콘텐츠 -&gt; 링크/기술 개선</a:t>
            </a:r>
            <a:endParaRPr lang="en-US" sz="820" dirty="0"/>
          </a:p>
        </p:txBody>
      </p:sp>
      <p:sp>
        <p:nvSpPr>
          <p:cNvPr id="32" name="Text 30"/>
          <p:cNvSpPr/>
          <p:nvPr/>
        </p:nvSpPr>
        <p:spPr>
          <a:xfrm>
            <a:off x="7022592" y="502005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 맵 -&gt; 답변 원자화 -&gt; 근거 패키징 -&gt; AI visibility 모니터링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804672" y="5715000"/>
            <a:ext cx="73152" cy="640080"/>
          </a:xfrm>
          <a:prstGeom prst="rect">
            <a:avLst/>
          </a:prstGeom>
          <a:solidFill>
            <a:srgbClr val="0E918C"/>
          </a:solidFill>
          <a:ln w="12700">
            <a:solidFill>
              <a:srgbClr val="0E918C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7552" y="573328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 원칙: SEO는 발견 가능성의 기반, AEO는 답변 채택 가능성의 확장이다.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6985">
            <a:solidFill>
              <a:srgbClr val="D8D5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644652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Google Search Central, Optimizing for generative AI search; structured data documentation; internal synthesis</a:t>
            </a:r>
            <a:endParaRPr lang="en-US" sz="6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57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SEO -&gt; AEO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4884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실행 구조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00816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594360"/>
            <a:ext cx="11155680" cy="0"/>
          </a:xfrm>
          <a:prstGeom prst="line">
            <a:avLst/>
          </a:prstGeom>
          <a:noFill/>
          <a:ln w="8890">
            <a:solidFill>
              <a:srgbClr val="D8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AEO 콘텐츠는 '정답 후보'로 읽히도록 설계한다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6733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엔진이 단락을 추출해도 의미가 무너지지 않는 정보 구조가 필요하다.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59536" y="1828800"/>
            <a:ext cx="347472" cy="34747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933956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01</a:t>
            </a:r>
            <a:endParaRPr lang="en-US" sz="620" dirty="0"/>
          </a:p>
        </p:txBody>
      </p:sp>
      <p:sp>
        <p:nvSpPr>
          <p:cNvPr id="11" name="Text 9"/>
          <p:cNvSpPr/>
          <p:nvPr/>
        </p:nvSpPr>
        <p:spPr>
          <a:xfrm>
            <a:off x="1417320" y="1801368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Answer-first block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3493008" y="1810512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 화면에 2-4문장 정의, 대상, 조건, 핵심 근거를 먼저 배치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1033272" y="2221992"/>
            <a:ext cx="0" cy="347472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9536" y="2578608"/>
            <a:ext cx="347472" cy="347472"/>
          </a:xfrm>
          <a:prstGeom prst="ellipse">
            <a:avLst/>
          </a:prstGeom>
          <a:solidFill>
            <a:srgbClr val="0E918C"/>
          </a:solidFill>
          <a:ln w="12700">
            <a:solidFill>
              <a:srgbClr val="0E918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683764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02</a:t>
            </a:r>
            <a:endParaRPr lang="en-US" sz="620" dirty="0"/>
          </a:p>
        </p:txBody>
      </p:sp>
      <p:sp>
        <p:nvSpPr>
          <p:cNvPr id="16" name="Text 14"/>
          <p:cNvSpPr/>
          <p:nvPr/>
        </p:nvSpPr>
        <p:spPr>
          <a:xfrm>
            <a:off x="1417320" y="255117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Entity clarity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3493008" y="2560320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브랜드명, 제품명, 카테고리, 비교 대상의 표기를 일관되게 유지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1033272" y="2971800"/>
            <a:ext cx="0" cy="347472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9536" y="3328416"/>
            <a:ext cx="347472" cy="347472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433572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03</a:t>
            </a:r>
            <a:endParaRPr lang="en-US" sz="620" dirty="0"/>
          </a:p>
        </p:txBody>
      </p:sp>
      <p:sp>
        <p:nvSpPr>
          <p:cNvPr id="21" name="Text 19"/>
          <p:cNvSpPr/>
          <p:nvPr/>
        </p:nvSpPr>
        <p:spPr>
          <a:xfrm>
            <a:off x="1417320" y="330098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Structured data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3493008" y="3310128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FAQ, HowTo, Product, Organization 등 가능한 schema를 정확히 적용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1033272" y="3721608"/>
            <a:ext cx="0" cy="347472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59536" y="4078224"/>
            <a:ext cx="347472" cy="347472"/>
          </a:xfrm>
          <a:prstGeom prst="ellipse">
            <a:avLst/>
          </a:prstGeom>
          <a:solidFill>
            <a:srgbClr val="E7A928"/>
          </a:solidFill>
          <a:ln w="12700">
            <a:solidFill>
              <a:srgbClr val="E7A92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183380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04</a:t>
            </a:r>
            <a:endParaRPr lang="en-US" sz="620" dirty="0"/>
          </a:p>
        </p:txBody>
      </p:sp>
      <p:sp>
        <p:nvSpPr>
          <p:cNvPr id="26" name="Text 24"/>
          <p:cNvSpPr/>
          <p:nvPr/>
        </p:nvSpPr>
        <p:spPr>
          <a:xfrm>
            <a:off x="1417320" y="405079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Evidence pack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3493008" y="4059936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수치, 날짜, 원문 출처, 방법론을 본문 가까이에 붙여 인용 가능하게 구성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1033272" y="4471416"/>
            <a:ext cx="0" cy="347472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9536" y="4828032"/>
            <a:ext cx="347472" cy="347472"/>
          </a:xfrm>
          <a:prstGeom prst="ellipse">
            <a:avLst/>
          </a:prstGeom>
          <a:solidFill>
            <a:srgbClr val="D4524C"/>
          </a:solidFill>
          <a:ln w="12700">
            <a:solidFill>
              <a:srgbClr val="D4524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4933188"/>
            <a:ext cx="2743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05</a:t>
            </a:r>
            <a:endParaRPr lang="en-US" sz="620" dirty="0"/>
          </a:p>
        </p:txBody>
      </p:sp>
      <p:sp>
        <p:nvSpPr>
          <p:cNvPr id="31" name="Text 29"/>
          <p:cNvSpPr/>
          <p:nvPr/>
        </p:nvSpPr>
        <p:spPr>
          <a:xfrm>
            <a:off x="1417320" y="480060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Refresh loop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3493008" y="480974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답변이 선호하는 최신성 신호를 위해 업데이트 이력과 검증 루틴 운영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8275320" y="1828800"/>
            <a:ext cx="2926080" cy="3602736"/>
          </a:xfrm>
          <a:prstGeom prst="roundRect">
            <a:avLst>
              <a:gd name="adj" fmla="val 2500"/>
            </a:avLst>
          </a:prstGeom>
          <a:solidFill>
            <a:srgbClr val="101827"/>
          </a:solidFill>
          <a:ln w="8890">
            <a:solidFill>
              <a:srgbClr val="1018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77072" y="213969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AEO-ready page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77072" y="270662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BFD6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AI가 답변을 조립할 때 그대로 가져갈 수 있는 콘텐츠 단위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8613648" y="3328416"/>
            <a:ext cx="73152" cy="73152"/>
          </a:xfrm>
          <a:prstGeom prst="ellipse">
            <a:avLst/>
          </a:prstGeom>
          <a:solidFill>
            <a:srgbClr val="E7A928"/>
          </a:solidFill>
          <a:ln w="12700">
            <a:solidFill>
              <a:srgbClr val="E7A928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778240" y="3246120"/>
            <a:ext cx="2148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DCE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질문별 명확한 H2/H3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8613648" y="3599078"/>
            <a:ext cx="73152" cy="73152"/>
          </a:xfrm>
          <a:prstGeom prst="ellipse">
            <a:avLst/>
          </a:prstGeom>
          <a:solidFill>
            <a:srgbClr val="E7A928"/>
          </a:solidFill>
          <a:ln w="12700">
            <a:solidFill>
              <a:srgbClr val="E7A92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78240" y="3516782"/>
            <a:ext cx="2148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DCE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요약 -&gt; 근거 -&gt; 예외 순서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8613648" y="3869741"/>
            <a:ext cx="73152" cy="73152"/>
          </a:xfrm>
          <a:prstGeom prst="ellipse">
            <a:avLst/>
          </a:prstGeom>
          <a:solidFill>
            <a:srgbClr val="E7A928"/>
          </a:solidFill>
          <a:ln w="12700">
            <a:solidFill>
              <a:srgbClr val="E7A92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78240" y="3787445"/>
            <a:ext cx="2148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DCE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출처와 날짜를 문단 가까이에 배치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8613648" y="4140403"/>
            <a:ext cx="73152" cy="73152"/>
          </a:xfrm>
          <a:prstGeom prst="ellipse">
            <a:avLst/>
          </a:prstGeom>
          <a:solidFill>
            <a:srgbClr val="E7A928"/>
          </a:solidFill>
          <a:ln w="12700">
            <a:solidFill>
              <a:srgbClr val="E7A928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78240" y="4058107"/>
            <a:ext cx="2148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DCE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FAQ와 schema를 내용과 일치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8613648" y="4411066"/>
            <a:ext cx="73152" cy="73152"/>
          </a:xfrm>
          <a:prstGeom prst="ellipse">
            <a:avLst/>
          </a:prstGeom>
          <a:solidFill>
            <a:srgbClr val="E7A928"/>
          </a:solidFill>
          <a:ln w="12700">
            <a:solidFill>
              <a:srgbClr val="E7A92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78240" y="4328770"/>
            <a:ext cx="21488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DCE7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브랜드/제품/entity 표기 통일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6985">
            <a:solidFill>
              <a:srgbClr val="D8D5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644652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Google Search Central structured data docs, last updated Dec 10 2025; internal synthesis</a:t>
            </a:r>
            <a:endParaRPr lang="en-US" sz="6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57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SEO -&gt; AEO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4884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00816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594360"/>
            <a:ext cx="11155680" cy="0"/>
          </a:xfrm>
          <a:prstGeom prst="line">
            <a:avLst/>
          </a:prstGeom>
          <a:noFill/>
          <a:ln w="8890">
            <a:solidFill>
              <a:srgbClr val="D8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측정 기준도 트래픽 중심에서 답변 점유율 중심으로 확장된다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6733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AEO는 새 대시보드를 추가해야 운영 가능한 전략이 된다.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182880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828800"/>
            <a:ext cx="5212080" cy="3474720"/>
          </a:xfrm>
          <a:prstGeom prst="roundRect">
            <a:avLst>
              <a:gd name="adj" fmla="val 2105"/>
            </a:avLst>
          </a:prstGeom>
          <a:solidFill>
            <a:srgbClr val="FBFAF6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7552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457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기존 SEO KPI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103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1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AEO 추가 KPI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05840" y="2779776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26974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키워드 순위 / SERP feature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1005840" y="3182112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70432" y="309981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Organic CTR / sessions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1005840" y="3584448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70432" y="35021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Backlink / domain authority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1005840" y="3986784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70432" y="39044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페이지 속도와 색인 상태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1005840" y="4389120"/>
            <a:ext cx="73152" cy="73152"/>
          </a:xfrm>
          <a:prstGeom prst="ellipse">
            <a:avLst/>
          </a:prstGeom>
          <a:solidFill>
            <a:srgbClr val="2457D6"/>
          </a:solidFill>
          <a:ln w="12700">
            <a:solidFill>
              <a:srgbClr val="2457D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430682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Organic conversion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6556248" y="2779776"/>
            <a:ext cx="73152" cy="73152"/>
          </a:xfrm>
          <a:prstGeom prst="ellipse">
            <a:avLst/>
          </a:prstGeom>
          <a:solidFill>
            <a:srgbClr val="0E918C"/>
          </a:solidFill>
          <a:ln w="12700">
            <a:solidFill>
              <a:srgbClr val="0E918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26974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citation rate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6556248" y="3182112"/>
            <a:ext cx="73152" cy="73152"/>
          </a:xfrm>
          <a:prstGeom prst="ellipse">
            <a:avLst/>
          </a:prstGeom>
          <a:solidFill>
            <a:srgbClr val="0E918C"/>
          </a:solidFill>
          <a:ln w="12700">
            <a:solidFill>
              <a:srgbClr val="0E918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309981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Share of answer by topic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6556248" y="3584448"/>
            <a:ext cx="73152" cy="73152"/>
          </a:xfrm>
          <a:prstGeom prst="ellipse">
            <a:avLst/>
          </a:prstGeom>
          <a:solidFill>
            <a:srgbClr val="0E918C"/>
          </a:solidFill>
          <a:ln w="12700">
            <a:solidFill>
              <a:srgbClr val="0E918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35021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answer sentiment / accuracy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6556248" y="3986784"/>
            <a:ext cx="73152" cy="73152"/>
          </a:xfrm>
          <a:prstGeom prst="ellipse">
            <a:avLst/>
          </a:prstGeom>
          <a:solidFill>
            <a:srgbClr val="0E918C"/>
          </a:solidFill>
          <a:ln w="12700">
            <a:solidFill>
              <a:srgbClr val="0E918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20840" y="390448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referral quality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6556248" y="4389120"/>
            <a:ext cx="73152" cy="73152"/>
          </a:xfrm>
          <a:prstGeom prst="ellipse">
            <a:avLst/>
          </a:prstGeom>
          <a:solidFill>
            <a:srgbClr val="0E918C"/>
          </a:solidFill>
          <a:ln w="12700">
            <a:solidFill>
              <a:srgbClr val="0E918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20840" y="430682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 freshness / entity consistency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6080760" y="2103120"/>
            <a:ext cx="0" cy="2971800"/>
          </a:xfrm>
          <a:prstGeom prst="line">
            <a:avLst/>
          </a:prstGeom>
          <a:noFill/>
          <a:ln w="12700">
            <a:solidFill>
              <a:srgbClr val="D8D5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76672" y="3364992"/>
            <a:ext cx="1417320" cy="292608"/>
          </a:xfrm>
          <a:prstGeom prst="roundRect">
            <a:avLst>
              <a:gd name="adj" fmla="val 15625"/>
            </a:avLst>
          </a:prstGeom>
          <a:solidFill>
            <a:srgbClr val="F1E1A8"/>
          </a:solidFill>
          <a:ln w="12700">
            <a:solidFill>
              <a:srgbClr val="F1E1A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0" y="3442716"/>
            <a:ext cx="11978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확장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822960" y="5687568"/>
            <a:ext cx="73152" cy="640080"/>
          </a:xfrm>
          <a:prstGeom prst="rect">
            <a:avLst/>
          </a:prstGeom>
          <a:solidFill>
            <a:srgbClr val="0E918C"/>
          </a:solidFill>
          <a:ln w="12700">
            <a:solidFill>
              <a:srgbClr val="0E918C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" y="5705856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권장 운영: Search Console과 기존 SEO 도구는 유지하고, AI search monitoring을 topic cluster 단위로 추가한다.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6985">
            <a:solidFill>
              <a:srgbClr val="D8D5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644652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Sources: Google AI Mode query fan-out explanations, 2025; Google Search Central measurement guidance; internal synthesis</a:t>
            </a:r>
            <a:endParaRPr lang="en-US" sz="6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57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SEO -&gt; AEO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4884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로드맵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00816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594360"/>
            <a:ext cx="11155680" cy="0"/>
          </a:xfrm>
          <a:prstGeom prst="line">
            <a:avLst/>
          </a:prstGeom>
          <a:noFill/>
          <a:ln w="8890">
            <a:solidFill>
              <a:srgbClr val="D8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868680"/>
            <a:ext cx="8412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90일 전환 로드맵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16733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새 조직을 만들기보다 기존 SEO 운영 리듬에 answer-readiness를 넣는다.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13232" y="1847088"/>
            <a:ext cx="3310128" cy="3547872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9264" y="214884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2226564"/>
            <a:ext cx="649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0-30일</a:t>
            </a:r>
            <a:endParaRPr lang="en-US" sz="760" dirty="0"/>
          </a:p>
        </p:txBody>
      </p:sp>
      <p:sp>
        <p:nvSpPr>
          <p:cNvPr id="12" name="Text 10"/>
          <p:cNvSpPr/>
          <p:nvPr/>
        </p:nvSpPr>
        <p:spPr>
          <a:xfrm>
            <a:off x="969264" y="26151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57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진단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87552" y="3291840"/>
            <a:ext cx="100584" cy="100584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88720" y="324612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핵심 토픽 20개 선정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987552" y="3730752"/>
            <a:ext cx="100584" cy="100584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368503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의도와 AI summary 노출 여부 조사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987552" y="4169664"/>
            <a:ext cx="100584" cy="100584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1239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상위 페이지의 answer block gap 점검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987552" y="4608576"/>
            <a:ext cx="100584" cy="100584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456285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schema와 entity inconsistency 감사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416552" y="1847088"/>
            <a:ext cx="3310128" cy="3547872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72584" y="214884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2226564"/>
            <a:ext cx="649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31-60일</a:t>
            </a:r>
            <a:endParaRPr lang="en-US" sz="760" dirty="0"/>
          </a:p>
        </p:txBody>
      </p:sp>
      <p:sp>
        <p:nvSpPr>
          <p:cNvPr id="24" name="Text 22"/>
          <p:cNvSpPr/>
          <p:nvPr/>
        </p:nvSpPr>
        <p:spPr>
          <a:xfrm>
            <a:off x="4672584" y="26151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91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구축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690872" y="3291840"/>
            <a:ext cx="100584" cy="100584"/>
          </a:xfrm>
          <a:prstGeom prst="rect">
            <a:avLst/>
          </a:prstGeom>
          <a:solidFill>
            <a:srgbClr val="0E918C"/>
          </a:solidFill>
          <a:ln w="12700">
            <a:solidFill>
              <a:srgbClr val="0E918C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24612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토픽별 answer-first page 리라이트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4690872" y="3730752"/>
            <a:ext cx="100584" cy="100584"/>
          </a:xfrm>
          <a:prstGeom prst="rect">
            <a:avLst/>
          </a:prstGeom>
          <a:solidFill>
            <a:srgbClr val="0E918C"/>
          </a:solidFill>
          <a:ln w="12700">
            <a:solidFill>
              <a:srgbClr val="0E918C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368503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FAQ/HowTo/Product schema 정비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4690872" y="4169664"/>
            <a:ext cx="100584" cy="100584"/>
          </a:xfrm>
          <a:prstGeom prst="rect">
            <a:avLst/>
          </a:prstGeom>
          <a:solidFill>
            <a:srgbClr val="0E918C"/>
          </a:solidFill>
          <a:ln w="12700">
            <a:solidFill>
              <a:srgbClr val="0E918C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41239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근거·수치·출처를 본문 가까이에 배치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4690872" y="4608576"/>
            <a:ext cx="100584" cy="100584"/>
          </a:xfrm>
          <a:prstGeom prst="rect">
            <a:avLst/>
          </a:prstGeom>
          <a:solidFill>
            <a:srgbClr val="0E918C"/>
          </a:solidFill>
          <a:ln w="12700">
            <a:solidFill>
              <a:srgbClr val="0E918C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456285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비교/정의/절차 페이지 우선 개선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8119872" y="1847088"/>
            <a:ext cx="3310128" cy="3547872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75904" y="2148840"/>
            <a:ext cx="868680" cy="292608"/>
          </a:xfrm>
          <a:prstGeom prst="roundRect">
            <a:avLst>
              <a:gd name="adj" fmla="val 15625"/>
            </a:avLst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85632" y="2226564"/>
            <a:ext cx="64922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61-90일</a:t>
            </a:r>
            <a:endParaRPr lang="en-US" sz="760" dirty="0"/>
          </a:p>
        </p:txBody>
      </p:sp>
      <p:sp>
        <p:nvSpPr>
          <p:cNvPr id="36" name="Text 34"/>
          <p:cNvSpPr/>
          <p:nvPr/>
        </p:nvSpPr>
        <p:spPr>
          <a:xfrm>
            <a:off x="8375904" y="26151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A9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운영화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8394192" y="3291840"/>
            <a:ext cx="100584" cy="100584"/>
          </a:xfrm>
          <a:prstGeom prst="rect">
            <a:avLst/>
          </a:prstGeom>
          <a:solidFill>
            <a:srgbClr val="E7A928"/>
          </a:solidFill>
          <a:ln w="12700">
            <a:solidFill>
              <a:srgbClr val="E7A92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95360" y="3246120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AI citation 모니터링 시작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8394192" y="3730752"/>
            <a:ext cx="100584" cy="100584"/>
          </a:xfrm>
          <a:prstGeom prst="rect">
            <a:avLst/>
          </a:prstGeom>
          <a:solidFill>
            <a:srgbClr val="E7A928"/>
          </a:solidFill>
          <a:ln w="12700">
            <a:solidFill>
              <a:srgbClr val="E7A928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595360" y="3685032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유입과 assisted conversion 비교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8394192" y="4169664"/>
            <a:ext cx="100584" cy="100584"/>
          </a:xfrm>
          <a:prstGeom prst="rect">
            <a:avLst/>
          </a:prstGeom>
          <a:solidFill>
            <a:srgbClr val="E7A928"/>
          </a:solidFill>
          <a:ln w="12700">
            <a:solidFill>
              <a:srgbClr val="E7A92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95360" y="4123944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답변 오류·누락 케이스 수정 루프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8394192" y="4608576"/>
            <a:ext cx="100584" cy="100584"/>
          </a:xfrm>
          <a:prstGeom prst="rect">
            <a:avLst/>
          </a:prstGeom>
          <a:solidFill>
            <a:srgbClr val="E7A928"/>
          </a:solidFill>
          <a:ln w="12700">
            <a:solidFill>
              <a:srgbClr val="E7A928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0" y="4562856"/>
            <a:ext cx="2578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분기별 AEO backlog로 편입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804672" y="5715000"/>
            <a:ext cx="73152" cy="64008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7552" y="5733288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첫 90일의 성공 기준: 5개 핵심 토픽에서 AI 답변 내 브랜드/콘텐츠 언급 또는 출처 후보 노출을 확인한다.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6985">
            <a:solidFill>
              <a:srgbClr val="D8D5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02920" y="644652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Sample roadmap; adapt by industry, content volume, and baseline SEO maturity</a:t>
            </a:r>
            <a:endParaRPr lang="en-US" sz="6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5EF"/>
          </a:solidFill>
          <a:ln w="12700">
            <a:solidFill>
              <a:srgbClr val="F7F5E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457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SEO -&gt; AEO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148840" y="2560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결론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1100816" y="22860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08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02920" y="594360"/>
            <a:ext cx="11155680" cy="0"/>
          </a:xfrm>
          <a:prstGeom prst="line">
            <a:avLst/>
          </a:prstGeom>
          <a:noFill/>
          <a:ln w="8890">
            <a:solidFill>
              <a:srgbClr val="D8D5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601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57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결론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444752"/>
            <a:ext cx="7589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검색 전략의 목표를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'랭킹'에서 '선택되는 답변'까지 넓힌다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713232" y="3200400"/>
            <a:ext cx="331012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3232" y="3200400"/>
            <a:ext cx="73152" cy="148132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401568"/>
            <a:ext cx="2898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2457D6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KEEP</a:t>
            </a:r>
            <a:endParaRPr lang="en-US" sz="720" dirty="0"/>
          </a:p>
        </p:txBody>
      </p:sp>
      <p:sp>
        <p:nvSpPr>
          <p:cNvPr id="12" name="Text 10"/>
          <p:cNvSpPr/>
          <p:nvPr/>
        </p:nvSpPr>
        <p:spPr>
          <a:xfrm>
            <a:off x="914400" y="3730752"/>
            <a:ext cx="2898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SEO 기반 유지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4206240"/>
            <a:ext cx="2898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크롤링, 색인, 기술 SEO, 콘텐츠 품질, 링크 신호는 여전히 기반이다.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4434840" y="3200400"/>
            <a:ext cx="331012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34840" y="3200400"/>
            <a:ext cx="73152" cy="1481328"/>
          </a:xfrm>
          <a:prstGeom prst="rect">
            <a:avLst/>
          </a:prstGeom>
          <a:solidFill>
            <a:srgbClr val="0E918C"/>
          </a:solidFill>
          <a:ln w="12700">
            <a:solidFill>
              <a:srgbClr val="0E918C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36008" y="3401568"/>
            <a:ext cx="2898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0E918C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ADD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4636008" y="3730752"/>
            <a:ext cx="2898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AEO 운영 기준 추가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36008" y="4206240"/>
            <a:ext cx="2898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질문별 answer block, structured data, entity consistency, citation 모니터링을 더한다.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8156448" y="3200400"/>
            <a:ext cx="331012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8890">
            <a:solidFill>
              <a:srgbClr val="D8D5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56448" y="3200400"/>
            <a:ext cx="73152" cy="1481328"/>
          </a:xfrm>
          <a:prstGeom prst="rect">
            <a:avLst/>
          </a:prstGeom>
          <a:solidFill>
            <a:srgbClr val="E7A928"/>
          </a:solidFill>
          <a:ln w="12700">
            <a:solidFill>
              <a:srgbClr val="E7A92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57616" y="3401568"/>
            <a:ext cx="28986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E7A928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DECIDE</a:t>
            </a:r>
            <a:endParaRPr lang="en-US" sz="720" dirty="0"/>
          </a:p>
        </p:txBody>
      </p:sp>
      <p:sp>
        <p:nvSpPr>
          <p:cNvPr id="22" name="Text 20"/>
          <p:cNvSpPr/>
          <p:nvPr/>
        </p:nvSpPr>
        <p:spPr>
          <a:xfrm>
            <a:off x="8357616" y="3730752"/>
            <a:ext cx="2898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4213D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우선순위 토픽 20개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357616" y="4206240"/>
            <a:ext cx="2898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매출·브랜드 방어·지원 비용 절감에 직접 연결되는 질의부터 시작한다.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713232" y="5257800"/>
            <a:ext cx="10753344" cy="676656"/>
          </a:xfrm>
          <a:prstGeom prst="rect">
            <a:avLst/>
          </a:prstGeom>
          <a:solidFill>
            <a:srgbClr val="101827"/>
          </a:solidFill>
          <a:ln w="12700">
            <a:solidFill>
              <a:srgbClr val="10182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5486400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다음 액션: 기존 SEO 상위 50개 페이지를 대상으로 answer-readiness audit을 실행한다.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2920" y="6327648"/>
            <a:ext cx="11155680" cy="0"/>
          </a:xfrm>
          <a:prstGeom prst="line">
            <a:avLst/>
          </a:prstGeom>
          <a:noFill/>
          <a:ln w="6985">
            <a:solidFill>
              <a:srgbClr val="D8D5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6446520"/>
            <a:ext cx="10241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20" dirty="0">
                <a:solidFill>
                  <a:srgbClr val="5F6977"/>
                </a:solidFill>
                <a:latin typeface="Apple SD Gothic Neo" pitchFamily="34" charset="0"/>
                <a:ea typeface="Apple SD Gothic Neo" pitchFamily="34" charset="-122"/>
                <a:cs typeface="Apple SD Gothic Neo" pitchFamily="34" charset="-120"/>
              </a:rPr>
              <a:t>Sample recommendation deck generated by Codex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ple SD Gothic Ne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ple SD Gothic Ne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Claude Craft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SEO -&gt; AEO 검색 시대</dc:title>
  <dc:subject>SEO에서 AEO 검색 시대로의 전환</dc:subject>
  <dc:creator>Codex</dc:creator>
  <cp:lastModifiedBy>Codex</cp:lastModifiedBy>
  <cp:revision>1</cp:revision>
  <dcterms:created xsi:type="dcterms:W3CDTF">2026-05-17T21:21:39Z</dcterms:created>
  <dcterms:modified xsi:type="dcterms:W3CDTF">2026-05-17T21:21:39Z</dcterms:modified>
</cp:coreProperties>
</file>